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92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4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49039" y="1371600"/>
            <a:ext cx="7863840" cy="2926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400" b="1" i="0" dirty="0" err="1">
                <a:solidFill>
                  <a:srgbClr val="FFFFFF"/>
                </a:solidFill>
                <a:latin typeface="Segoe UI"/>
              </a:rPr>
              <a:t>SauronSheet</a:t>
            </a:r>
            <a:endParaRPr sz="5400" b="1" i="0" dirty="0">
              <a:solidFill>
                <a:srgbClr val="FFFFFF"/>
              </a:solidFill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400" b="1" i="0" dirty="0">
                <a:solidFill>
                  <a:srgbClr val="D4A017"/>
                </a:solidFill>
                <a:latin typeface="Segoe UI"/>
              </a:rPr>
              <a:t>Control Financiero Personal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dirty="0" err="1">
                <a:solidFill>
                  <a:srgbClr val="E8E8DD"/>
                </a:solidFill>
                <a:latin typeface="Segoe UI"/>
              </a:rPr>
              <a:t>Aplicación</a:t>
            </a:r>
            <a:r>
              <a:rPr sz="1500" b="0" i="0" dirty="0">
                <a:solidFill>
                  <a:srgbClr val="E8E8DD"/>
                </a:solidFill>
                <a:latin typeface="Segoe UI"/>
              </a:rPr>
              <a:t> web de </a:t>
            </a:r>
            <a:r>
              <a:rPr sz="1500" b="0" i="0" dirty="0" err="1">
                <a:solidFill>
                  <a:srgbClr val="E8E8DD"/>
                </a:solidFill>
                <a:latin typeface="Segoe UI"/>
              </a:rPr>
              <a:t>gestión</a:t>
            </a:r>
            <a:r>
              <a:rPr sz="1500" b="0" i="0" dirty="0">
                <a:solidFill>
                  <a:srgbClr val="E8E8DD"/>
                </a:solidFill>
                <a:latin typeface="Segoe UI"/>
              </a:rPr>
              <a:t> de </a:t>
            </a:r>
            <a:r>
              <a:rPr sz="1500" b="0" i="0" dirty="0" err="1">
                <a:solidFill>
                  <a:srgbClr val="E8E8DD"/>
                </a:solidFill>
                <a:latin typeface="Segoe UI"/>
              </a:rPr>
              <a:t>finanzas</a:t>
            </a:r>
            <a:r>
              <a:rPr sz="1500" b="0" i="0" dirty="0">
                <a:solidFill>
                  <a:srgbClr val="E8E8DD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E8E8DD"/>
                </a:solidFill>
                <a:latin typeface="Segoe UI"/>
              </a:rPr>
              <a:t>personales</a:t>
            </a:r>
            <a:r>
              <a:rPr sz="1500" b="0" i="0" dirty="0">
                <a:solidFill>
                  <a:srgbClr val="E8E8DD"/>
                </a:solidFill>
                <a:latin typeface="Segoe UI"/>
              </a:rPr>
              <a:t> con </a:t>
            </a:r>
            <a:r>
              <a:rPr sz="1500" b="0" i="0" dirty="0" err="1">
                <a:solidFill>
                  <a:srgbClr val="E8E8DD"/>
                </a:solidFill>
                <a:latin typeface="Segoe UI"/>
              </a:rPr>
              <a:t>importación</a:t>
            </a:r>
            <a:r>
              <a:rPr sz="1500" b="0" i="0" dirty="0">
                <a:solidFill>
                  <a:srgbClr val="E8E8DD"/>
                </a:solidFill>
                <a:latin typeface="Segoe UI"/>
              </a:rPr>
              <a:t> de </a:t>
            </a:r>
            <a:r>
              <a:rPr sz="1500" b="0" i="0" dirty="0" err="1">
                <a:solidFill>
                  <a:srgbClr val="E8E8DD"/>
                </a:solidFill>
                <a:latin typeface="Segoe UI"/>
              </a:rPr>
              <a:t>extractos</a:t>
            </a:r>
            <a:r>
              <a:rPr sz="1500" b="0" i="0" dirty="0">
                <a:solidFill>
                  <a:srgbClr val="E8E8DD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E8E8DD"/>
                </a:solidFill>
                <a:latin typeface="Segoe UI"/>
              </a:rPr>
              <a:t>bancarios</a:t>
            </a:r>
            <a:r>
              <a:rPr sz="1500" b="0" i="0" dirty="0">
                <a:solidFill>
                  <a:srgbClr val="E8E8DD"/>
                </a:solidFill>
                <a:latin typeface="Segoe UI"/>
              </a:rPr>
              <a:t>, </a:t>
            </a:r>
            <a:r>
              <a:rPr sz="1500" b="0" i="0" dirty="0" err="1">
                <a:solidFill>
                  <a:srgbClr val="E8E8DD"/>
                </a:solidFill>
                <a:latin typeface="Segoe UI"/>
              </a:rPr>
              <a:t>análisis</a:t>
            </a:r>
            <a:r>
              <a:rPr sz="1500" b="0" i="0" dirty="0">
                <a:solidFill>
                  <a:srgbClr val="E8E8DD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E8E8DD"/>
                </a:solidFill>
                <a:latin typeface="Segoe UI"/>
              </a:rPr>
              <a:t>avanzado</a:t>
            </a:r>
            <a:r>
              <a:rPr sz="1500" b="0" i="0" dirty="0">
                <a:solidFill>
                  <a:srgbClr val="E8E8DD"/>
                </a:solidFill>
                <a:latin typeface="Segoe UI"/>
              </a:rPr>
              <a:t> y </a:t>
            </a:r>
            <a:r>
              <a:rPr sz="1500" b="0" i="0" dirty="0" err="1">
                <a:solidFill>
                  <a:srgbClr val="E8E8DD"/>
                </a:solidFill>
                <a:latin typeface="Segoe UI"/>
              </a:rPr>
              <a:t>presupuestos</a:t>
            </a:r>
            <a:r>
              <a:rPr sz="1500" b="0" i="0" dirty="0">
                <a:solidFill>
                  <a:srgbClr val="E8E8DD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E8E8DD"/>
                </a:solidFill>
                <a:latin typeface="Segoe UI"/>
              </a:rPr>
              <a:t>inteligentes</a:t>
            </a:r>
            <a:r>
              <a:rPr sz="1500" b="0" i="0" dirty="0">
                <a:solidFill>
                  <a:srgbClr val="E8E8DD"/>
                </a:solidFill>
                <a:latin typeface="Segoe UI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760" y="4617720"/>
            <a:ext cx="7498079" cy="254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49039" y="4800600"/>
            <a:ext cx="7863840" cy="92948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 dirty="0" err="1">
                <a:solidFill>
                  <a:srgbClr val="FFFFFF"/>
                </a:solidFill>
                <a:latin typeface="Segoe UI"/>
              </a:rPr>
              <a:t>Trabajo</a:t>
            </a:r>
            <a:r>
              <a:rPr sz="1500" b="1" i="0" dirty="0">
                <a:solidFill>
                  <a:srgbClr val="FFFFFF"/>
                </a:solidFill>
                <a:latin typeface="Segoe UI"/>
              </a:rPr>
              <a:t> de Fin de </a:t>
            </a:r>
            <a:r>
              <a:rPr sz="1500" b="1" i="0" dirty="0" err="1">
                <a:solidFill>
                  <a:srgbClr val="FFFFFF"/>
                </a:solidFill>
                <a:latin typeface="Segoe UI"/>
              </a:rPr>
              <a:t>Máster</a:t>
            </a:r>
            <a:endParaRPr sz="1500" b="1" i="0" dirty="0">
              <a:solidFill>
                <a:srgbClr val="FFFFFF"/>
              </a:solidFill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 dirty="0" err="1">
                <a:solidFill>
                  <a:srgbClr val="CFD6BE"/>
                </a:solidFill>
                <a:latin typeface="Segoe UI"/>
              </a:rPr>
              <a:t>Máster</a:t>
            </a:r>
            <a:r>
              <a:rPr sz="1300" b="0" i="0" dirty="0">
                <a:solidFill>
                  <a:srgbClr val="CFD6BE"/>
                </a:solidFill>
                <a:latin typeface="Segoe UI"/>
              </a:rPr>
              <a:t> de </a:t>
            </a:r>
            <a:r>
              <a:rPr lang="es-ES" sz="1300" b="0" i="0" dirty="0">
                <a:solidFill>
                  <a:srgbClr val="CFD6BE"/>
                </a:solidFill>
                <a:latin typeface="Segoe UI"/>
              </a:rPr>
              <a:t>Desarrollo</a:t>
            </a:r>
            <a:r>
              <a:rPr sz="1300" b="0" i="0" dirty="0">
                <a:solidFill>
                  <a:srgbClr val="CFD6BE"/>
                </a:solidFill>
                <a:latin typeface="Segoe UI"/>
              </a:rPr>
              <a:t> </a:t>
            </a:r>
            <a:r>
              <a:rPr lang="es-ES" sz="1300" dirty="0">
                <a:solidFill>
                  <a:srgbClr val="CFD6BE"/>
                </a:solidFill>
                <a:latin typeface="Segoe UI"/>
              </a:rPr>
              <a:t>con IA</a:t>
            </a:r>
            <a:endParaRPr sz="1300" b="0" i="0" dirty="0">
              <a:solidFill>
                <a:srgbClr val="CFD6BE"/>
              </a:solidFill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 dirty="0">
                <a:solidFill>
                  <a:srgbClr val="D4A017"/>
                </a:solidFill>
                <a:latin typeface="Segoe UI"/>
              </a:rPr>
              <a:t>Gonzalo Cantarero Galvez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FC4C256-3AC7-1688-2EC3-AE93F2A086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90329" y="1371600"/>
            <a:ext cx="2039679" cy="20396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Índice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685800" cy="685800"/>
          </a:xfrm>
          <a:prstGeom prst="roundRect">
            <a:avLst>
              <a:gd name="adj" fmla="val 6000"/>
            </a:avLst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307592"/>
            <a:ext cx="457200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2D2D2D"/>
                </a:solidFill>
                <a:latin typeface="Segoe UI"/>
              </a:rPr>
              <a:t>Problema y Solución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Contexto, propuesta de valor y diferenciadores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32888"/>
            <a:ext cx="685800" cy="685800"/>
          </a:xfrm>
          <a:prstGeom prst="roundRect">
            <a:avLst>
              <a:gd name="adj" fmla="val 6000"/>
            </a:avLst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514600"/>
            <a:ext cx="457200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2D2D2D"/>
                </a:solidFill>
                <a:latin typeface="Segoe UI"/>
              </a:rPr>
              <a:t>Stack Tecnológico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.NET 10, Supabase, Razor, Alpine, HTMX, Chart.js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39896"/>
            <a:ext cx="685800" cy="685800"/>
          </a:xfrm>
          <a:prstGeom prst="roundRect">
            <a:avLst>
              <a:gd name="adj" fmla="val 6000"/>
            </a:avLst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21608"/>
            <a:ext cx="457200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2D2D2D"/>
                </a:solidFill>
                <a:latin typeface="Segoe UI"/>
              </a:rPr>
              <a:t>Arquitectura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Clean Architecture, CQRS, DDD, modelo de datos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946904"/>
            <a:ext cx="685800" cy="685800"/>
          </a:xfrm>
          <a:prstGeom prst="roundRect">
            <a:avLst>
              <a:gd name="adj" fmla="val 6000"/>
            </a:avLst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4928616"/>
            <a:ext cx="457200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2D2D2D"/>
                </a:solidFill>
                <a:latin typeface="Segoe UI"/>
              </a:rPr>
              <a:t>Funcionalidades por Pantalla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Recorrido completo tab por tab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325880"/>
            <a:ext cx="685800" cy="685800"/>
          </a:xfrm>
          <a:prstGeom prst="roundRect">
            <a:avLst>
              <a:gd name="adj" fmla="val 6000"/>
            </a:avLst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307592"/>
            <a:ext cx="457200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2D2D2D"/>
                </a:solidFill>
                <a:latin typeface="Segoe UI"/>
              </a:rPr>
              <a:t>Metodología de Desarrollo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SDD, TDD y asistencia con 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532888"/>
            <a:ext cx="685800" cy="685800"/>
          </a:xfrm>
          <a:prstGeom prst="roundRect">
            <a:avLst>
              <a:gd name="adj" fmla="val 6000"/>
            </a:avLst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514600"/>
            <a:ext cx="457200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2D2D2D"/>
                </a:solidFill>
                <a:latin typeface="Segoe UI"/>
              </a:rPr>
              <a:t>Testing y CI/CD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Playwright E2E y pipeline GitHub 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739896"/>
            <a:ext cx="685800" cy="685800"/>
          </a:xfrm>
          <a:prstGeom prst="roundRect">
            <a:avLst>
              <a:gd name="adj" fmla="val 6000"/>
            </a:avLst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721608"/>
            <a:ext cx="457200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2D2D2D"/>
                </a:solidFill>
                <a:latin typeface="Segoe UI"/>
              </a:rPr>
              <a:t>Demo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Aplicación en vivo con usuario de prueba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946904"/>
            <a:ext cx="685800" cy="685800"/>
          </a:xfrm>
          <a:prstGeom prst="roundRect">
            <a:avLst>
              <a:gd name="adj" fmla="val 6000"/>
            </a:avLst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4928616"/>
            <a:ext cx="457200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2D2D2D"/>
                </a:solidFill>
                <a:latin typeface="Segoe UI"/>
              </a:rPr>
              <a:t>Conclusiones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Logros, métricas y trabajo futuro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SauronSheet · TFM · Gonzalo Cantarero Galvez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22860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0" b="1" i="0">
                <a:solidFill>
                  <a:srgbClr val="7E8F54"/>
                </a:solidFill>
                <a:latin typeface="Segoe UI"/>
              </a:rPr>
              <a:t>01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Problema y Solución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DD"/>
                </a:solidFill>
                <a:latin typeface="Segoe UI"/>
              </a:rPr>
              <a:t>¿Qué problema resuelve SauronSheet y para quién?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¿Qué es SauronSheet?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640080" cy="384048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3D4D22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2D2D2D"/>
                </a:solidFill>
                <a:latin typeface="Segoe UI"/>
              </a:rPr>
              <a:t>Aplicación web de finanzas personales que ayuda a tomar el control de gastos e ingresos de forma sencilla y visual.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B7280"/>
                </a:solidFill>
                <a:latin typeface="Segoe UI"/>
              </a:rPr>
              <a:t>El nombre evoca «un ojo que todo lo ve» sobre tus finanzas — Sauron de El Señor de los Anillos + Sheet (hoja de cálculo).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2331720" cy="2011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0" i="0">
                <a:solidFill>
                  <a:srgbClr val="556B2F"/>
                </a:solidFill>
                <a:latin typeface="Segoe UI"/>
              </a:rPr>
              <a:t>📥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556B2F"/>
                </a:solidFill>
                <a:latin typeface="Segoe UI"/>
              </a:rPr>
              <a:t>Importa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</a:rPr>
              <a:t>Extractos bancarios desde Excel, sin introducir datos a mano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92608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3154680"/>
            <a:ext cx="2331720" cy="2011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0" i="0">
                <a:solidFill>
                  <a:srgbClr val="556B2F"/>
                </a:solidFill>
                <a:latin typeface="Segoe UI"/>
              </a:rPr>
              <a:t>📊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556B2F"/>
                </a:solidFill>
                <a:latin typeface="Segoe UI"/>
              </a:rPr>
              <a:t>Visualiza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</a:rPr>
              <a:t>Dashboard interactivo con gráficos, tendencias y comparativas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92608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3154680"/>
            <a:ext cx="2331720" cy="2011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0" i="0">
                <a:solidFill>
                  <a:srgbClr val="556B2F"/>
                </a:solidFill>
                <a:latin typeface="Segoe UI"/>
              </a:rPr>
              <a:t>🎯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556B2F"/>
                </a:solidFill>
                <a:latin typeface="Segoe UI"/>
              </a:rPr>
              <a:t>Presupuesta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</a:rPr>
              <a:t>Presupuestos por categoría con semáforo visual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92608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0" y="3154680"/>
            <a:ext cx="2331720" cy="2011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0" i="0">
                <a:solidFill>
                  <a:srgbClr val="556B2F"/>
                </a:solidFill>
                <a:latin typeface="Segoe UI"/>
              </a:rPr>
              <a:t>📈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556B2F"/>
                </a:solidFill>
                <a:latin typeface="Segoe UI"/>
              </a:rPr>
              <a:t>Analiza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</a:rPr>
              <a:t>Análisis anual con score, anomalías y predicciones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SauronSheet · TFM · Gonzalo Cantarero Galvez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¿Por qué es difícil gestionar las finanzas?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640080" cy="384048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3D4D22"/>
                </a:solidFill>
                <a:latin typeface="Segoe U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371600"/>
            <a:ext cx="10058400" cy="10058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2D2D2D"/>
                </a:solidFill>
                <a:latin typeface="Segoe UI"/>
              </a:rPr>
              <a:t>Datos manuales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Segoe UI"/>
              </a:rPr>
              <a:t>Introducir cada movimiento a mano es tedioso y propenso a errores.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87752"/>
            <a:ext cx="502920" cy="502920"/>
          </a:xfrm>
          <a:prstGeom prst="roundRect">
            <a:avLst>
              <a:gd name="adj" fmla="val 6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542032"/>
            <a:ext cx="10058400" cy="10058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2D2D2D"/>
                </a:solidFill>
                <a:latin typeface="Segoe UI"/>
              </a:rPr>
              <a:t>Sin visión global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Segoe UI"/>
              </a:rPr>
              <a:t>No hay una foto clara de ingresos frente a gastos.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58184"/>
            <a:ext cx="502920" cy="502920"/>
          </a:xfrm>
          <a:prstGeom prst="roundRect">
            <a:avLst>
              <a:gd name="adj" fmla="val 6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712464"/>
            <a:ext cx="10058400" cy="10058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2D2D2D"/>
                </a:solidFill>
                <a:latin typeface="Segoe UI"/>
              </a:rPr>
              <a:t>Presupuestos olvidados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Segoe UI"/>
              </a:rPr>
              <a:t>Sin alertas visuales, los límites se ignoran.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928616"/>
            <a:ext cx="502920" cy="502920"/>
          </a:xfrm>
          <a:prstGeom prst="roundRect">
            <a:avLst>
              <a:gd name="adj" fmla="val 6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82896"/>
            <a:ext cx="10058400" cy="10058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2D2D2D"/>
                </a:solidFill>
                <a:latin typeface="Segoe UI"/>
              </a:rPr>
              <a:t>Falta de contexto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Segoe UI"/>
              </a:rPr>
              <a:t>No hay análisis histórico, tendencias ni predicciones.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SauronSheet · TFM · Gonzalo Cantarero Galvez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SauronSheet — Un ojo que todo lo 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640080" cy="384048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3D4D22"/>
                </a:solidFill>
                <a:latin typeface="Segoe U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50392" y="1636776"/>
            <a:ext cx="502920" cy="50292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17320"/>
            <a:ext cx="4343400" cy="9601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D2D2D"/>
                </a:solidFill>
                <a:latin typeface="Segoe UI"/>
              </a:rPr>
              <a:t>Importación automática de extractos bancarios (Excel 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32888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0392" y="2752344"/>
            <a:ext cx="502920" cy="50292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32888"/>
            <a:ext cx="4343400" cy="9601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D2D2D"/>
                </a:solidFill>
                <a:latin typeface="Segoe UI"/>
              </a:rPr>
              <a:t>Dashboard interactivo con KPIs, gráficos y tendencias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648456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50392" y="3867912"/>
            <a:ext cx="502920" cy="50292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648456"/>
            <a:ext cx="4343400" cy="9601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D2D2D"/>
                </a:solidFill>
                <a:latin typeface="Segoe UI"/>
              </a:rPr>
              <a:t>Presupuestos con semáforo verde / amarillo / rojo / sobrecoste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764024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50392" y="498348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764024"/>
            <a:ext cx="4343400" cy="9601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D2D2D"/>
                </a:solidFill>
                <a:latin typeface="Segoe UI"/>
              </a:rPr>
              <a:t>Análisis anual completo con 7 secciones analíticas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417320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28232" y="1636776"/>
            <a:ext cx="502920" cy="50292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1417320"/>
            <a:ext cx="4343400" cy="9601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D2D2D"/>
                </a:solidFill>
                <a:latin typeface="Segoe UI"/>
              </a:rPr>
              <a:t>Score de salud financiera (0–100) con desglose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532888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28232" y="2752344"/>
            <a:ext cx="502920" cy="50292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532888"/>
            <a:ext cx="4343400" cy="9601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D2D2D"/>
                </a:solidFill>
                <a:latin typeface="Segoe UI"/>
              </a:rPr>
              <a:t>Detección de anomalías y predicciones (regresión lineal)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648456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28232" y="3867912"/>
            <a:ext cx="502920" cy="50292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648456"/>
            <a:ext cx="4343400" cy="9601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D2D2D"/>
                </a:solidFill>
                <a:latin typeface="Segoe UI"/>
              </a:rPr>
              <a:t>Multi-idioma (ES / EN) con cambio en vivo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764024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28232" y="498348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764024"/>
            <a:ext cx="4343400" cy="9601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D2D2D"/>
                </a:solidFill>
                <a:latin typeface="Segoe UI"/>
              </a:rPr>
              <a:t>Multi-tenant: cada usuario ve solo sus datos (RLS)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SauronSheet · TFM · Gonzalo Cantarero Galvez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¿Para quién? ¿Qué nos diferencia?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640080" cy="384048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3D4D22"/>
                </a:solidFill>
                <a:latin typeface="Segoe U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9616"/>
            <a:ext cx="4992624" cy="42245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56B2F"/>
                </a:solidFill>
                <a:latin typeface="Segoe UI"/>
              </a:rPr>
              <a:t>👥  Usuarios objetivo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Personas que quieren entender dónde se va su dinero sin esfuerzo manual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Usuarios de banca online que descargan extractos bancarios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Quien quiera establecer presupuestos y recibir alertas visuales de sobrecoste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3368" y="1499616"/>
            <a:ext cx="4992624" cy="272997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 dirty="0">
                <a:solidFill>
                  <a:srgbClr val="D4A017"/>
                </a:solidFill>
                <a:latin typeface="Segoe UI"/>
              </a:rPr>
              <a:t>⭐  </a:t>
            </a:r>
            <a:r>
              <a:rPr sz="1500" b="1" i="0" dirty="0" err="1">
                <a:solidFill>
                  <a:srgbClr val="D4A017"/>
                </a:solidFill>
                <a:latin typeface="Segoe UI"/>
              </a:rPr>
              <a:t>Diferenciadores</a:t>
            </a:r>
            <a:endParaRPr sz="1500" b="1" i="0" dirty="0">
              <a:solidFill>
                <a:srgbClr val="D4A017"/>
              </a:solidFill>
              <a:latin typeface="Segoe UI"/>
            </a:endParaRPr>
          </a:p>
          <a:p>
            <a:pPr>
              <a:spcAft>
                <a:spcPts val="300"/>
              </a:spcAft>
            </a:pPr>
            <a:r>
              <a:rPr sz="1400" b="0" i="0" dirty="0">
                <a:solidFill>
                  <a:srgbClr val="2D2D2D"/>
                </a:solidFill>
                <a:latin typeface="Segoe UI"/>
              </a:rPr>
              <a:t>•  </a:t>
            </a:r>
            <a:r>
              <a:rPr sz="1400" b="0" i="0" dirty="0" err="1">
                <a:solidFill>
                  <a:srgbClr val="2D2D2D"/>
                </a:solidFill>
                <a:latin typeface="Segoe UI"/>
              </a:rPr>
              <a:t>Importación</a:t>
            </a:r>
            <a:r>
              <a:rPr sz="1400" b="0" i="0" dirty="0">
                <a:solidFill>
                  <a:srgbClr val="2D2D2D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2D2D2D"/>
                </a:solidFill>
                <a:latin typeface="Segoe UI"/>
              </a:rPr>
              <a:t>inteligente</a:t>
            </a:r>
            <a:r>
              <a:rPr sz="1400" b="0" i="0" dirty="0">
                <a:solidFill>
                  <a:srgbClr val="2D2D2D"/>
                </a:solidFill>
                <a:latin typeface="Segoe UI"/>
              </a:rPr>
              <a:t> con </a:t>
            </a:r>
            <a:r>
              <a:rPr sz="1400" b="0" i="0" dirty="0" err="1">
                <a:solidFill>
                  <a:srgbClr val="2D2D2D"/>
                </a:solidFill>
                <a:latin typeface="Segoe UI"/>
              </a:rPr>
              <a:t>resolución</a:t>
            </a:r>
            <a:r>
              <a:rPr sz="1400" b="0" i="0" dirty="0">
                <a:solidFill>
                  <a:srgbClr val="2D2D2D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2D2D2D"/>
                </a:solidFill>
                <a:latin typeface="Segoe UI"/>
              </a:rPr>
              <a:t>automática</a:t>
            </a:r>
            <a:r>
              <a:rPr sz="1400" b="0" i="0" dirty="0">
                <a:solidFill>
                  <a:srgbClr val="2D2D2D"/>
                </a:solidFill>
                <a:latin typeface="Segoe UI"/>
              </a:rPr>
              <a:t> de </a:t>
            </a:r>
            <a:r>
              <a:rPr sz="1400" b="0" i="0" dirty="0" err="1">
                <a:solidFill>
                  <a:srgbClr val="2D2D2D"/>
                </a:solidFill>
                <a:latin typeface="Segoe UI"/>
              </a:rPr>
              <a:t>categorías</a:t>
            </a:r>
            <a:r>
              <a:rPr sz="1400" b="0" i="0" dirty="0">
                <a:solidFill>
                  <a:srgbClr val="2D2D2D"/>
                </a:solidFill>
                <a:latin typeface="Segoe UI"/>
              </a:rPr>
              <a:t> del banco</a:t>
            </a:r>
            <a:r>
              <a:rPr lang="es-ES" sz="1400" b="0" i="0" dirty="0">
                <a:solidFill>
                  <a:srgbClr val="2D2D2D"/>
                </a:solidFill>
                <a:latin typeface="Segoe UI"/>
              </a:rPr>
              <a:t> con posibilidad de modificación posterior</a:t>
            </a:r>
          </a:p>
          <a:p>
            <a:pPr>
              <a:spcAft>
                <a:spcPts val="300"/>
              </a:spcAft>
            </a:pPr>
            <a:r>
              <a:rPr lang="es-ES" sz="1400" dirty="0">
                <a:solidFill>
                  <a:srgbClr val="2D2D2D"/>
                </a:solidFill>
                <a:latin typeface="Segoe UI"/>
              </a:rPr>
              <a:t>•  Capacidad de inserción y gestión manual de los movimientos</a:t>
            </a:r>
            <a:endParaRPr sz="1400" b="0" i="0" dirty="0">
              <a:solidFill>
                <a:srgbClr val="2D2D2D"/>
              </a:solidFill>
              <a:latin typeface="Segoe UI"/>
            </a:endParaRPr>
          </a:p>
          <a:p>
            <a:pPr>
              <a:spcAft>
                <a:spcPts val="300"/>
              </a:spcAft>
            </a:pPr>
            <a:r>
              <a:rPr sz="1400" b="0" i="0" dirty="0">
                <a:solidFill>
                  <a:srgbClr val="2D2D2D"/>
                </a:solidFill>
                <a:latin typeface="Segoe UI"/>
              </a:rPr>
              <a:t>•  </a:t>
            </a:r>
            <a:r>
              <a:rPr sz="1400" b="0" i="0" dirty="0" err="1">
                <a:solidFill>
                  <a:srgbClr val="2D2D2D"/>
                </a:solidFill>
                <a:latin typeface="Segoe UI"/>
              </a:rPr>
              <a:t>Análisis</a:t>
            </a:r>
            <a:r>
              <a:rPr sz="1400" b="0" i="0" dirty="0">
                <a:solidFill>
                  <a:srgbClr val="2D2D2D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2D2D2D"/>
                </a:solidFill>
                <a:latin typeface="Segoe UI"/>
              </a:rPr>
              <a:t>anual</a:t>
            </a:r>
            <a:r>
              <a:rPr sz="1400" b="0" i="0" dirty="0">
                <a:solidFill>
                  <a:srgbClr val="2D2D2D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2D2D2D"/>
                </a:solidFill>
                <a:latin typeface="Segoe UI"/>
              </a:rPr>
              <a:t>completo</a:t>
            </a:r>
            <a:r>
              <a:rPr sz="1400" b="0" i="0" dirty="0">
                <a:solidFill>
                  <a:srgbClr val="2D2D2D"/>
                </a:solidFill>
                <a:latin typeface="Segoe UI"/>
              </a:rPr>
              <a:t>: 7 </a:t>
            </a:r>
            <a:r>
              <a:rPr sz="1400" b="0" i="0" dirty="0" err="1">
                <a:solidFill>
                  <a:srgbClr val="2D2D2D"/>
                </a:solidFill>
                <a:latin typeface="Segoe UI"/>
              </a:rPr>
              <a:t>secciones</a:t>
            </a:r>
            <a:r>
              <a:rPr sz="1400" b="0" i="0" dirty="0">
                <a:solidFill>
                  <a:srgbClr val="2D2D2D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2D2D2D"/>
                </a:solidFill>
                <a:latin typeface="Segoe UI"/>
              </a:rPr>
              <a:t>analíticas</a:t>
            </a:r>
            <a:endParaRPr sz="1400" b="0" i="0" dirty="0">
              <a:solidFill>
                <a:srgbClr val="2D2D2D"/>
              </a:solidFill>
              <a:latin typeface="Segoe UI"/>
            </a:endParaRPr>
          </a:p>
          <a:p>
            <a:pPr>
              <a:spcAft>
                <a:spcPts val="300"/>
              </a:spcAft>
            </a:pPr>
            <a:r>
              <a:rPr sz="1400" b="0" i="0" dirty="0">
                <a:solidFill>
                  <a:srgbClr val="2D2D2D"/>
                </a:solidFill>
                <a:latin typeface="Segoe UI"/>
              </a:rPr>
              <a:t>•  Multi-</a:t>
            </a:r>
            <a:r>
              <a:rPr sz="1400" b="0" i="0" dirty="0" err="1">
                <a:solidFill>
                  <a:srgbClr val="2D2D2D"/>
                </a:solidFill>
                <a:latin typeface="Segoe UI"/>
              </a:rPr>
              <a:t>idioma</a:t>
            </a:r>
            <a:r>
              <a:rPr sz="1400" b="0" i="0" dirty="0">
                <a:solidFill>
                  <a:srgbClr val="2D2D2D"/>
                </a:solidFill>
                <a:latin typeface="Segoe UI"/>
              </a:rPr>
              <a:t> con </a:t>
            </a:r>
            <a:r>
              <a:rPr sz="1400" b="0" i="0" dirty="0" err="1">
                <a:solidFill>
                  <a:srgbClr val="2D2D2D"/>
                </a:solidFill>
                <a:latin typeface="Segoe UI"/>
              </a:rPr>
              <a:t>cambio</a:t>
            </a:r>
            <a:r>
              <a:rPr sz="1400" b="0" i="0" dirty="0">
                <a:solidFill>
                  <a:srgbClr val="2D2D2D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2D2D2D"/>
                </a:solidFill>
                <a:latin typeface="Segoe UI"/>
              </a:rPr>
              <a:t>en</a:t>
            </a:r>
            <a:r>
              <a:rPr sz="1400" b="0" i="0" dirty="0">
                <a:solidFill>
                  <a:srgbClr val="2D2D2D"/>
                </a:solidFill>
                <a:latin typeface="Segoe UI"/>
              </a:rPr>
              <a:t> vivo (ES / EN)</a:t>
            </a:r>
          </a:p>
          <a:p>
            <a:pPr>
              <a:spcAft>
                <a:spcPts val="300"/>
              </a:spcAft>
            </a:pPr>
            <a:r>
              <a:rPr sz="1400" b="0" i="0" dirty="0">
                <a:solidFill>
                  <a:srgbClr val="2D2D2D"/>
                </a:solidFill>
                <a:latin typeface="Segoe UI"/>
              </a:rPr>
              <a:t>•  Multi-tenant </a:t>
            </a:r>
            <a:r>
              <a:rPr sz="1400" b="0" i="0" dirty="0" err="1">
                <a:solidFill>
                  <a:srgbClr val="2D2D2D"/>
                </a:solidFill>
                <a:latin typeface="Segoe UI"/>
              </a:rPr>
              <a:t>aislado</a:t>
            </a:r>
            <a:r>
              <a:rPr sz="1400" b="0" i="0" dirty="0">
                <a:solidFill>
                  <a:srgbClr val="2D2D2D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2D2D2D"/>
                </a:solidFill>
                <a:latin typeface="Segoe UI"/>
              </a:rPr>
              <a:t>por</a:t>
            </a:r>
            <a:r>
              <a:rPr sz="1400" b="0" i="0" dirty="0">
                <a:solidFill>
                  <a:srgbClr val="2D2D2D"/>
                </a:solidFill>
                <a:latin typeface="Segoe UI"/>
              </a:rPr>
              <a:t> Row-Level Security</a:t>
            </a:r>
          </a:p>
          <a:p>
            <a:pPr>
              <a:spcAft>
                <a:spcPts val="300"/>
              </a:spcAft>
            </a:pPr>
            <a:r>
              <a:rPr sz="1400" b="0" i="0" dirty="0">
                <a:solidFill>
                  <a:srgbClr val="2D2D2D"/>
                </a:solidFill>
                <a:latin typeface="Segoe UI"/>
              </a:rPr>
              <a:t>•  </a:t>
            </a:r>
            <a:r>
              <a:rPr sz="1400" b="0" i="0" dirty="0" err="1">
                <a:solidFill>
                  <a:srgbClr val="2D2D2D"/>
                </a:solidFill>
                <a:latin typeface="Segoe UI"/>
              </a:rPr>
              <a:t>Presupuestos</a:t>
            </a:r>
            <a:r>
              <a:rPr sz="1400" b="0" i="0" dirty="0">
                <a:solidFill>
                  <a:srgbClr val="2D2D2D"/>
                </a:solidFill>
                <a:latin typeface="Segoe UI"/>
              </a:rPr>
              <a:t> con </a:t>
            </a:r>
            <a:r>
              <a:rPr sz="1400" b="0" i="0" dirty="0" err="1">
                <a:solidFill>
                  <a:srgbClr val="2D2D2D"/>
                </a:solidFill>
                <a:latin typeface="Segoe UI"/>
              </a:rPr>
              <a:t>semáforo</a:t>
            </a:r>
            <a:r>
              <a:rPr sz="1400" b="0" i="0" dirty="0">
                <a:solidFill>
                  <a:srgbClr val="2D2D2D"/>
                </a:solidFill>
                <a:latin typeface="Segoe UI"/>
              </a:rPr>
              <a:t> y barras de </a:t>
            </a:r>
            <a:r>
              <a:rPr sz="1400" b="0" i="0" dirty="0" err="1">
                <a:solidFill>
                  <a:srgbClr val="2D2D2D"/>
                </a:solidFill>
                <a:latin typeface="Segoe UI"/>
              </a:rPr>
              <a:t>progreso</a:t>
            </a:r>
            <a:endParaRPr sz="1400" b="0" i="0" dirty="0">
              <a:solidFill>
                <a:srgbClr val="2D2D2D"/>
              </a:solidFill>
              <a:latin typeface="Segoe UI"/>
            </a:endParaRPr>
          </a:p>
          <a:p>
            <a:pPr>
              <a:spcAft>
                <a:spcPts val="300"/>
              </a:spcAft>
            </a:pPr>
            <a:r>
              <a:rPr sz="1400" b="0" i="0" dirty="0">
                <a:solidFill>
                  <a:srgbClr val="2D2D2D"/>
                </a:solidFill>
                <a:latin typeface="Segoe UI"/>
              </a:rPr>
              <a:t>•  </a:t>
            </a:r>
            <a:r>
              <a:rPr sz="1400" b="0" i="0" dirty="0" err="1">
                <a:solidFill>
                  <a:srgbClr val="2D2D2D"/>
                </a:solidFill>
                <a:latin typeface="Segoe UI"/>
              </a:rPr>
              <a:t>Trazabilidad</a:t>
            </a:r>
            <a:r>
              <a:rPr sz="1400" b="0" i="0" dirty="0">
                <a:solidFill>
                  <a:srgbClr val="2D2D2D"/>
                </a:solidFill>
                <a:latin typeface="Segoe UI"/>
              </a:rPr>
              <a:t> total de </a:t>
            </a:r>
            <a:r>
              <a:rPr sz="1400" b="0" i="0" dirty="0" err="1">
                <a:solidFill>
                  <a:srgbClr val="2D2D2D"/>
                </a:solidFill>
                <a:latin typeface="Segoe UI"/>
              </a:rPr>
              <a:t>importación</a:t>
            </a:r>
            <a:r>
              <a:rPr sz="1400" b="0" i="0" dirty="0">
                <a:solidFill>
                  <a:srgbClr val="2D2D2D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2D2D2D"/>
                </a:solidFill>
                <a:latin typeface="Segoe UI"/>
              </a:rPr>
              <a:t>por</a:t>
            </a:r>
            <a:r>
              <a:rPr sz="1400" b="0" i="0" dirty="0">
                <a:solidFill>
                  <a:srgbClr val="2D2D2D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2D2D2D"/>
                </a:solidFill>
                <a:latin typeface="Segoe UI"/>
              </a:rPr>
              <a:t>transacción</a:t>
            </a:r>
            <a:endParaRPr sz="1400" b="0" i="0" dirty="0">
              <a:solidFill>
                <a:srgbClr val="2D2D2D"/>
              </a:solidFill>
              <a:latin typeface="Segoe U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SauronSheet · TFM · Gonzalo Cantarero Galvez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22860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0" b="1" i="0">
                <a:solidFill>
                  <a:srgbClr val="7E8F54"/>
                </a:solidFill>
                <a:latin typeface="Segoe UI"/>
              </a:rPr>
              <a:t>02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Stack Tecnológico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DD"/>
                </a:solidFill>
                <a:latin typeface="Segoe UI"/>
              </a:rPr>
              <a:t>Tecnologías, librerías e infraestructura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Stack — Backend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640080" cy="384048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3D4D22"/>
                </a:solidFill>
                <a:latin typeface="Segoe UI"/>
              </a:rPr>
              <a:t>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622723"/>
              </p:ext>
            </p:extLst>
          </p:nvPr>
        </p:nvGraphicFramePr>
        <p:xfrm>
          <a:off x="640080" y="137160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Tecnología</a:t>
                      </a:r>
                    </a:p>
                  </a:txBody>
                  <a:tcPr marT="27432" marB="27432">
                    <a:solidFill>
                      <a:srgbClr val="556B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Versión</a:t>
                      </a:r>
                    </a:p>
                  </a:txBody>
                  <a:tcPr marT="27432" marB="27432">
                    <a:solidFill>
                      <a:srgbClr val="556B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Propósito</a:t>
                      </a:r>
                    </a:p>
                  </a:txBody>
                  <a:tcPr marT="27432" marB="27432">
                    <a:solidFill>
                      <a:srgbClr val="556B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D2D2D"/>
                          </a:solidFill>
                          <a:latin typeface="Segoe UI"/>
                        </a:rPr>
                        <a:t>.NET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Framework web y API — minimal APIs, Razor Pages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D2D2D"/>
                          </a:solidFill>
                          <a:latin typeface="Segoe UI"/>
                        </a:rPr>
                        <a:t>C#</a:t>
                      </a:r>
                    </a:p>
                  </a:txBody>
                  <a:tcPr marT="18288" marB="18288"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T="18288" marB="18288"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Lenguaje principal</a:t>
                      </a:r>
                    </a:p>
                  </a:txBody>
                  <a:tcPr marT="18288" marB="18288">
                    <a:solidFill>
                      <a:srgbClr val="F0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D2D2D"/>
                          </a:solidFill>
                          <a:latin typeface="Segoe UI"/>
                        </a:rPr>
                        <a:t>MediatR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100" b="0" i="0" dirty="0">
                          <a:solidFill>
                            <a:srgbClr val="2D2D2D"/>
                          </a:solidFill>
                          <a:latin typeface="Segoe UI"/>
                        </a:rPr>
                        <a:t>12</a:t>
                      </a:r>
                      <a:endParaRPr sz="1100" b="0" i="0" dirty="0">
                        <a:solidFill>
                          <a:srgbClr val="2D2D2D"/>
                        </a:solidFill>
                        <a:latin typeface="Segoe UI"/>
                      </a:endParaRP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Patrón CQRS — commands y queries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D2D2D"/>
                          </a:solidFill>
                          <a:latin typeface="Segoe UI"/>
                        </a:rPr>
                        <a:t>Sentry</a:t>
                      </a:r>
                    </a:p>
                  </a:txBody>
                  <a:tcPr marT="18288" marB="18288"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SDK .NET</a:t>
                      </a:r>
                    </a:p>
                  </a:txBody>
                  <a:tcPr marT="18288" marB="18288"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Observabilidad: trazabilidad, errores, métricas</a:t>
                      </a:r>
                    </a:p>
                  </a:txBody>
                  <a:tcPr marT="18288" marB="18288">
                    <a:solidFill>
                      <a:srgbClr val="F0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D2D2D"/>
                          </a:solidFill>
                          <a:latin typeface="Segoe UI"/>
                        </a:rPr>
                        <a:t>ExcelDataReader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 dirty="0" err="1">
                          <a:solidFill>
                            <a:srgbClr val="2D2D2D"/>
                          </a:solidFill>
                          <a:latin typeface="Segoe UI"/>
                        </a:rPr>
                        <a:t>Parseo</a:t>
                      </a:r>
                      <a:r>
                        <a:rPr sz="1100" b="0" i="0" dirty="0">
                          <a:solidFill>
                            <a:srgbClr val="2D2D2D"/>
                          </a:solidFill>
                          <a:latin typeface="Segoe UI"/>
                        </a:rPr>
                        <a:t> de </a:t>
                      </a:r>
                      <a:r>
                        <a:rPr sz="1100" b="0" i="0" dirty="0" err="1">
                          <a:solidFill>
                            <a:srgbClr val="2D2D2D"/>
                          </a:solidFill>
                          <a:latin typeface="Segoe UI"/>
                        </a:rPr>
                        <a:t>ficheros</a:t>
                      </a:r>
                      <a:r>
                        <a:rPr sz="1100" b="0" i="0" dirty="0">
                          <a:solidFill>
                            <a:srgbClr val="2D2D2D"/>
                          </a:solidFill>
                          <a:latin typeface="Segoe UI"/>
                        </a:rPr>
                        <a:t> Excel (.</a:t>
                      </a:r>
                      <a:r>
                        <a:rPr sz="1100" b="0" i="0" dirty="0" err="1">
                          <a:solidFill>
                            <a:srgbClr val="2D2D2D"/>
                          </a:solidFill>
                          <a:latin typeface="Segoe UI"/>
                        </a:rPr>
                        <a:t>xls</a:t>
                      </a:r>
                      <a:r>
                        <a:rPr sz="1100" b="0" i="0" dirty="0">
                          <a:solidFill>
                            <a:srgbClr val="2D2D2D"/>
                          </a:solidFill>
                          <a:latin typeface="Segoe UI"/>
                        </a:rPr>
                        <a:t> / .xlsx)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937760"/>
            <a:ext cx="1088136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6B7280"/>
                </a:solidFill>
                <a:latin typeface="Segoe UI"/>
              </a:rPr>
              <a:t>Observabilidad 100% vía Sentry: pipeline único de tracing, errores, logs y métricas. Nunca se usa Console.WriteLine.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SauronSheet · TFM · Gonzalo Cantarero Galvez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Stack — 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640080" cy="384048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3D4D22"/>
                </a:solidFill>
                <a:latin typeface="Segoe UI"/>
              </a:rPr>
              <a:t>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71600"/>
          <a:ext cx="10881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Tecnología</a:t>
                      </a:r>
                    </a:p>
                  </a:txBody>
                  <a:tcPr marT="27432" marB="27432">
                    <a:solidFill>
                      <a:srgbClr val="556B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Versión</a:t>
                      </a:r>
                    </a:p>
                  </a:txBody>
                  <a:tcPr marT="27432" marB="27432">
                    <a:solidFill>
                      <a:srgbClr val="556B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Propósito</a:t>
                      </a:r>
                    </a:p>
                  </a:txBody>
                  <a:tcPr marT="27432" marB="27432">
                    <a:solidFill>
                      <a:srgbClr val="556B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D2D2D"/>
                          </a:solidFill>
                          <a:latin typeface="Segoe UI"/>
                        </a:rPr>
                        <a:t>Razor Pages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.NET 10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Renderizado server-side, PageModel pattern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D2D2D"/>
                          </a:solidFill>
                          <a:latin typeface="Segoe UI"/>
                        </a:rPr>
                        <a:t>MDBootstrap 5</a:t>
                      </a:r>
                    </a:p>
                  </a:txBody>
                  <a:tcPr marT="18288" marB="18288"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9.2</a:t>
                      </a:r>
                    </a:p>
                  </a:txBody>
                  <a:tcPr marT="18288" marB="18288"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UI Kit Material Design (CDN)</a:t>
                      </a:r>
                    </a:p>
                  </a:txBody>
                  <a:tcPr marT="18288" marB="18288">
                    <a:solidFill>
                      <a:srgbClr val="F0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D2D2D"/>
                          </a:solidFill>
                          <a:latin typeface="Segoe UI"/>
                        </a:rPr>
                        <a:t>Alpine.js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3.14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Reactividad declarativa en el DOM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D2D2D"/>
                          </a:solidFill>
                          <a:latin typeface="Segoe UI"/>
                        </a:rPr>
                        <a:t>HTMX</a:t>
                      </a:r>
                    </a:p>
                  </a:txBody>
                  <a:tcPr marT="18288" marB="18288"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marT="18288" marB="18288"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AJAX desde atributos HTML</a:t>
                      </a:r>
                    </a:p>
                  </a:txBody>
                  <a:tcPr marT="18288" marB="18288">
                    <a:solidFill>
                      <a:srgbClr val="F0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D2D2D"/>
                          </a:solidFill>
                          <a:latin typeface="Segoe UI"/>
                        </a:rPr>
                        <a:t>Chart.js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Última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Gráficos interactivos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D2D2D"/>
                          </a:solidFill>
                          <a:latin typeface="Segoe UI"/>
                        </a:rPr>
                        <a:t>Flatpickr</a:t>
                      </a:r>
                    </a:p>
                  </a:txBody>
                  <a:tcPr marT="18288" marB="18288"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Última</a:t>
                      </a:r>
                    </a:p>
                  </a:txBody>
                  <a:tcPr marT="18288" marB="18288"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Selector de fechas accesible</a:t>
                      </a:r>
                    </a:p>
                  </a:txBody>
                  <a:tcPr marT="18288" marB="18288">
                    <a:solidFill>
                      <a:srgbClr val="F0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D2D2D"/>
                          </a:solidFill>
                          <a:latin typeface="Segoe UI"/>
                        </a:rPr>
                        <a:t>Font Awesome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6.5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Iconografía funcional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SauronSheet · TFM · Gonzalo Cantarero Galvez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Stack — Base de Datos e Infraestructura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640080" cy="384048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3D4D22"/>
                </a:solidFill>
                <a:latin typeface="Segoe U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9616"/>
            <a:ext cx="4992624" cy="42245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56B2F"/>
                </a:solidFill>
                <a:latin typeface="Segoe UI"/>
              </a:rPr>
              <a:t>🗄️  Base de datos y Auth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Supabase (PostgreSQL): base de datos relacional gestionada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Supabase Auth: registro, login, JWT, refresh tokens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Row-Level Security: aislamiento multi-tenant en BD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Supabase CLI: migraciones y gestión del proyecto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20 migraciones SQL versionadas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3368" y="1499616"/>
            <a:ext cx="4992624" cy="42245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D4A017"/>
                </a:solidFill>
                <a:latin typeface="Segoe UI"/>
              </a:rPr>
              <a:t>☁️  Infraestructura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Azure App Service: hosting de la aplicación .NET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Supabase Cloud: base de datos y autenticación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Sentry: observabilidad unificada (pipeline único)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GitHub Actions: CI/CD (tests, E2E, migraciones, deploy)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GitHub: repositorio y control de versiones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SauronSheet · TFM · Gonzalo Cantarero Galvez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22860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0" b="1" i="0">
                <a:solidFill>
                  <a:srgbClr val="7E8F54"/>
                </a:solidFill>
                <a:latin typeface="Segoe UI"/>
              </a:rPr>
              <a:t>03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Arquitectura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DD"/>
                </a:solidFill>
                <a:latin typeface="Segoe UI"/>
              </a:rPr>
              <a:t>Clean Architecture, CQRS, DDD y modelo de datos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Clean Architecture + CQRS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640080" cy="384048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3D4D22"/>
                </a:solidFill>
                <a:latin typeface="Segoe U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371600"/>
            <a:ext cx="8412480" cy="868680"/>
          </a:xfrm>
          <a:prstGeom prst="roundRect">
            <a:avLst>
              <a:gd name="adj" fmla="val 6000"/>
            </a:avLst>
          </a:prstGeom>
          <a:solidFill>
            <a:srgbClr val="6B7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25880" y="1371600"/>
            <a:ext cx="7955279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FRONTEND (Razor Pages)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CEFE2"/>
                </a:solidFill>
                <a:latin typeface="Segoe UI"/>
              </a:rPr>
              <a:t>Pages · ViewModels · wwwroot — depende de Application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395728"/>
            <a:ext cx="8412480" cy="868680"/>
          </a:xfrm>
          <a:prstGeom prst="roundRect">
            <a:avLst>
              <a:gd name="adj" fmla="val 6000"/>
            </a:avLst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2395728"/>
            <a:ext cx="7955279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APPLICATION (CQRS)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CEFE2"/>
                </a:solidFill>
                <a:latin typeface="Segoe UI"/>
              </a:rPr>
              <a:t>Commands · Queries · DTOs · Behaviors — depende de Domain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419856"/>
            <a:ext cx="8412480" cy="868680"/>
          </a:xfrm>
          <a:prstGeom prst="roundRect">
            <a:avLst>
              <a:gd name="adj" fmla="val 6000"/>
            </a:avLst>
          </a:prstGeom>
          <a:solidFill>
            <a:srgbClr val="3D4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3419856"/>
            <a:ext cx="7955279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DOMAIN (Core)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CEFE2"/>
                </a:solidFill>
                <a:latin typeface="Segoe UI"/>
              </a:rPr>
              <a:t>Entities · ValueObjects · Services · Specifications — cero dependencias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443984"/>
            <a:ext cx="8412480" cy="868680"/>
          </a:xfrm>
          <a:prstGeom prst="roundRect">
            <a:avLst>
              <a:gd name="adj" fmla="val 6000"/>
            </a:avLst>
          </a:prstGeom>
          <a:solidFill>
            <a:srgbClr val="6B7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25880" y="4443984"/>
            <a:ext cx="7955279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INFRASTRUCTURE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CEFE2"/>
                </a:solidFill>
                <a:latin typeface="Segoe UI"/>
              </a:rPr>
              <a:t>Supabase · Auth · Excel · Sentry — implementa interfaces del Domain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1463040"/>
            <a:ext cx="2286000" cy="4114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556B2F"/>
                </a:solidFill>
                <a:latin typeface="Segoe UI"/>
              </a:rPr>
              <a:t>Las dependencias
apuntan
HACIA ADENTRO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El Domain no conoce
ninguna otra capa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SauronSheet · TFM · Gonzalo Cantarero Galvez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Patrón CQRS con MediatR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640080" cy="384048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3D4D22"/>
                </a:solidFill>
                <a:latin typeface="Segoe U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9496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9616"/>
            <a:ext cx="4992624" cy="2852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56B2F"/>
                </a:solidFill>
                <a:latin typeface="Segoe UI"/>
              </a:rPr>
              <a:t>✍️  Commands (escritura)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2D2D2D"/>
                </a:solidFill>
                <a:latin typeface="Segoe UI"/>
              </a:rPr>
              <a:t>•  CreateTransactionCommand → Transaction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2D2D2D"/>
                </a:solidFill>
                <a:latin typeface="Segoe UI"/>
              </a:rPr>
              <a:t>•  ImportTransactionsCommand → Transaction[]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2D2D2D"/>
                </a:solidFill>
                <a:latin typeface="Segoe UI"/>
              </a:rPr>
              <a:t>•  CreateBudgetCommand → Budget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2D2D2D"/>
                </a:solidFill>
                <a:latin typeface="Segoe UI"/>
              </a:rPr>
              <a:t>•  UpdateTransactionCommand / DeleteTransactionCommand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39496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3368" y="1499616"/>
            <a:ext cx="4992624" cy="2852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D4A017"/>
                </a:solidFill>
                <a:latin typeface="Segoe UI"/>
              </a:rPr>
              <a:t>🔍  Queries (lectura)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2D2D2D"/>
                </a:solidFill>
                <a:latin typeface="Segoe UI"/>
              </a:rPr>
              <a:t>•  GetTransactionsQuery → TransactionDto[]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2D2D2D"/>
                </a:solidFill>
                <a:latin typeface="Segoe UI"/>
              </a:rPr>
              <a:t>•  GetSpendingByCategoryQuery → CategorySpending[]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2D2D2D"/>
                </a:solidFill>
                <a:latin typeface="Segoe UI"/>
              </a:rPr>
              <a:t>•  GetAnnualDashboardQuery → AnnualDashboardResult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2D2D2D"/>
                </a:solidFill>
                <a:latin typeface="Segoe UI"/>
              </a:rPr>
              <a:t>•  GetBudgetMetricsQuery → BudgetMetricsDto[]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63440"/>
            <a:ext cx="109270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4791456"/>
            <a:ext cx="10524744" cy="9784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56B2F"/>
                </a:solidFill>
                <a:latin typeface="Segoe UI"/>
              </a:rPr>
              <a:t>⚙️  Pipeline behaviors (cross-cutting)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2D2D2D"/>
                </a:solidFill>
                <a:latin typeface="Segoe UI"/>
              </a:rPr>
              <a:t>•  TenantScopingBehavior — inyecta el UserId en cada request automáticamente        •  SentryTracingBehavior — traza cada comando / query en Sentry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SauronSheet · TFM · Gonzalo Cantarero Galvez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Domain-Driven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640080" cy="384048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3D4D22"/>
                </a:solidFill>
                <a:latin typeface="Segoe U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949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9616"/>
            <a:ext cx="4992624" cy="20756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56B2F"/>
                </a:solidFill>
                <a:latin typeface="Segoe UI"/>
              </a:rPr>
              <a:t>🧩  Aggregate Roots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2D2D2D"/>
                </a:solidFill>
                <a:latin typeface="Segoe UI"/>
              </a:rPr>
              <a:t>•  Transaction — Amount (Money), Date, CategoryId, Balance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2D2D2D"/>
                </a:solidFill>
                <a:latin typeface="Segoe UI"/>
              </a:rPr>
              <a:t>•  Category — Name, Type, Source, IsAutoCreated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2D2D2D"/>
                </a:solidFill>
                <a:latin typeface="Segoe UI"/>
              </a:rPr>
              <a:t>•  Budget — Limit (Money), Period, Status, fechas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2D2D2D"/>
                </a:solidFill>
                <a:latin typeface="Segoe UI"/>
              </a:rPr>
              <a:t>•  Subcategory · ImportBatch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3949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3368" y="1499616"/>
            <a:ext cx="4992624" cy="20756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D4A017"/>
                </a:solidFill>
                <a:latin typeface="Segoe UI"/>
              </a:rPr>
              <a:t>💎  Value Objects inmutables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2D2D2D"/>
                </a:solidFill>
                <a:latin typeface="Segoe UI"/>
              </a:rPr>
              <a:t>•  Money (decimal, Currency) — validación + aritmética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2D2D2D"/>
                </a:solidFill>
                <a:latin typeface="Segoe UI"/>
              </a:rPr>
              <a:t>•  DateRange · BudgetPeriod (Year, Month)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2D2D2D"/>
                </a:solidFill>
                <a:latin typeface="Segoe UI"/>
              </a:rPr>
              <a:t>•  TransactionId · UserId · CategoryName (tipados fuertes)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2D2D2D"/>
                </a:solidFill>
                <a:latin typeface="Segoe UI"/>
              </a:rPr>
              <a:t>•  BudgetStatusLevel — Verde / Amarillo / Rojo / Sobrecoste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40480"/>
            <a:ext cx="539496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3968496"/>
            <a:ext cx="4992624" cy="1801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56B2F"/>
                </a:solidFill>
                <a:latin typeface="Segoe UI"/>
              </a:rPr>
              <a:t>🛠️  Domain Services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2D2D2D"/>
                </a:solidFill>
                <a:latin typeface="Segoe UI"/>
              </a:rPr>
              <a:t>•  CategoryService — nombres únicos, categorías del sistema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2D2D2D"/>
                </a:solidFill>
                <a:latin typeface="Segoe UI"/>
              </a:rPr>
              <a:t>•  BudgetCalculationService — % usado, nivel de estado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2D2D2D"/>
                </a:solidFill>
                <a:latin typeface="Segoe UI"/>
              </a:rPr>
              <a:t>•  BudgetService — reglas de negocio de presupuestos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840480"/>
            <a:ext cx="539496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3968496"/>
            <a:ext cx="4992624" cy="1801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D4A017"/>
                </a:solidFill>
                <a:latin typeface="Segoe UI"/>
              </a:rPr>
              <a:t>📐  Specifications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2D2D2D"/>
                </a:solidFill>
                <a:latin typeface="Segoe UI"/>
              </a:rPr>
              <a:t>•  Por rango de fechas / categoría / importe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2D2D2D"/>
                </a:solidFill>
                <a:latin typeface="Segoe UI"/>
              </a:rPr>
              <a:t>•  Por palabra clave en descripción / usuario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2D2D2D"/>
                </a:solidFill>
                <a:latin typeface="Segoe UI"/>
              </a:rPr>
              <a:t>•  CompositeSpecification — combinación AND / 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SauronSheet · TFM · Gonzalo Cantarero Galvez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Modelo de Datos en Supabase (PostgreSQL)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640080" cy="384048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3D4D22"/>
                </a:solidFill>
                <a:latin typeface="Segoe U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3291840" cy="502920"/>
          </a:xfrm>
          <a:prstGeom prst="roundRect">
            <a:avLst>
              <a:gd name="adj" fmla="val 6000"/>
            </a:avLst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user_profiles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371600"/>
            <a:ext cx="7498079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D2D2D"/>
                </a:solidFill>
                <a:latin typeface="Segoe UI"/>
              </a:rPr>
              <a:t>Perfiles de usuario extendidos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75104"/>
            <a:ext cx="3291840" cy="502920"/>
          </a:xfrm>
          <a:prstGeom prst="roundRect">
            <a:avLst>
              <a:gd name="adj" fmla="val 6000"/>
            </a:avLst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categories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975104"/>
            <a:ext cx="7498079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D2D2D"/>
                </a:solidFill>
                <a:latin typeface="Segoe UI"/>
              </a:rPr>
              <a:t>Tipo (Income/Expense), source (System/User), únicas por nombre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78608"/>
            <a:ext cx="3291840" cy="502920"/>
          </a:xfrm>
          <a:prstGeom prst="roundRect">
            <a:avLst>
              <a:gd name="adj" fmla="val 6000"/>
            </a:avLst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subcategories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578608"/>
            <a:ext cx="7498079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D2D2D"/>
                </a:solidFill>
                <a:latin typeface="Segoe UI"/>
              </a:rPr>
              <a:t>Clasificación detallada dentro de una categoría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82112"/>
            <a:ext cx="3291840" cy="502920"/>
          </a:xfrm>
          <a:prstGeom prst="roundRect">
            <a:avLst>
              <a:gd name="adj" fmla="val 6000"/>
            </a:avLst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transactions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182112"/>
            <a:ext cx="7498079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D2D2D"/>
                </a:solidFill>
                <a:latin typeface="Segoe UI"/>
              </a:rPr>
              <a:t>Fecha, descripción, amount signado, balance, trazabilidad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85616"/>
            <a:ext cx="3291840" cy="502920"/>
          </a:xfrm>
          <a:prstGeom prst="roundRect">
            <a:avLst>
              <a:gd name="adj" fmla="val 6000"/>
            </a:avLst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budgets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785616"/>
            <a:ext cx="7498079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D2D2D"/>
                </a:solidFill>
                <a:latin typeface="Segoe UI"/>
              </a:rPr>
              <a:t>limit_amount, period (YYYY-MM), status, fechas de vigencia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89120"/>
            <a:ext cx="3291840" cy="502920"/>
          </a:xfrm>
          <a:prstGeom prst="roundRect">
            <a:avLst>
              <a:gd name="adj" fmla="val 6000"/>
            </a:avLst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import_batches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389120"/>
            <a:ext cx="7498079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D2D2D"/>
                </a:solidFill>
                <a:latin typeface="Segoe UI"/>
              </a:rPr>
              <a:t>file_name, status, transaction_count, errores (JSON)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992624"/>
            <a:ext cx="3291840" cy="502920"/>
          </a:xfrm>
          <a:prstGeom prst="roundRect">
            <a:avLst>
              <a:gd name="adj" fmla="val 6000"/>
            </a:avLst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bank_category_translations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992624"/>
            <a:ext cx="7498079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D2D2D"/>
                </a:solidFill>
                <a:latin typeface="Segoe UI"/>
              </a:rPr>
              <a:t>Traducción banco → categoría SauronSheet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715000"/>
            <a:ext cx="108813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B7280"/>
                </a:solidFill>
                <a:latin typeface="Segoe UI"/>
              </a:rPr>
              <a:t>RLS habilitado en todas las tablas: filtran por user_id = auth.uid(). Cliente Supabase inicializado por request con el JWT → aislamiento total.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SauronSheet · TFM · Gonzalo Cantarero Galvez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22860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0" b="1" i="0">
                <a:solidFill>
                  <a:srgbClr val="7E8F54"/>
                </a:solidFill>
                <a:latin typeface="Segoe UI"/>
              </a:rPr>
              <a:t>04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Funcionalidades por Pantalla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DD"/>
                </a:solidFill>
                <a:latin typeface="Segoe UI"/>
              </a:rPr>
              <a:t>Recorrido completo por cada tab de la aplicación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👤  Autenticación Multi-Usuario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640080" cy="384048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3D4D22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200" b="1" i="0">
                <a:solidFill>
                  <a:srgbClr val="556B2F"/>
                </a:solidFill>
                <a:latin typeface="Segoe UI"/>
              </a:rPr>
              <a:t>Pantallas:  </a:t>
            </a:r>
            <a:r>
              <a:rPr sz="1200" b="0" i="1">
                <a:solidFill>
                  <a:srgbClr val="6B7280"/>
                </a:solidFill>
                <a:latin typeface="Segoe UI"/>
              </a:rPr>
              <a:t>Auth/Login · Auth/Register · Auth/Logout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1092708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10424160" cy="3566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Registro e inicio de sesión con email y contraseña (Supabase Auth)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JWT con refresh tokens almacenados en cookies seguras (HttpOnly, SameSite Strict)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Aislamiento completo de datos por usuario mediante RLS en Supabase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Cierre de sesión con limpieza de cookies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97880"/>
            <a:ext cx="108813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1">
                <a:solidFill>
                  <a:srgbClr val="556B2F"/>
                </a:solidFill>
                <a:latin typeface="Segoe UI"/>
              </a:rPr>
              <a:t>Cada usuario ve exclusivamente sus propios datos — arquitectura multi-tenant.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SauronSheet · TFM · Gonzalo Cantarero Galvez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📊  Dashboard Principal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640080" cy="384048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3D4D22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200" b="1" i="0">
                <a:solidFill>
                  <a:srgbClr val="556B2F"/>
                </a:solidFill>
                <a:latin typeface="Segoe UI"/>
              </a:rPr>
              <a:t>Pantallas:  </a:t>
            </a:r>
            <a:r>
              <a:rPr sz="1200" b="0" i="1">
                <a:solidFill>
                  <a:srgbClr val="6B7280"/>
                </a:solidFill>
                <a:latin typeface="Segoe UI"/>
              </a:rPr>
              <a:t>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1092708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10424160" cy="3566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KPIs animados: ingresos totales, gastos totales, neto y nº de transacciones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Gráfico de gastos por categoría (barras apiladas por mes)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Gráfico de tendencias mensuales (ingresos vs gastos)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Comparativa año contra año y transacciones recientes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Widget de estado de presupuestos con semáforo y barras de progreso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Filtro por periodo: Todo · Este mes · Últimos 3 meses · Este año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97880"/>
            <a:ext cx="108813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1">
                <a:solidFill>
                  <a:srgbClr val="556B2F"/>
                </a:solidFill>
                <a:latin typeface="Segoe UI"/>
              </a:rPr>
              <a:t>Punto de entrada visual — foto completa de la salud financiera del usuario.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SauronSheet · TFM · Gonzalo Cantarero Galvez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🔍  Gestión de Transacciones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640080" cy="384048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3D4D22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200" b="1" i="0">
                <a:solidFill>
                  <a:srgbClr val="556B2F"/>
                </a:solidFill>
                <a:latin typeface="Segoe UI"/>
              </a:rPr>
              <a:t>Pantallas:  </a:t>
            </a:r>
            <a:r>
              <a:rPr sz="1200" b="0" i="1">
                <a:solidFill>
                  <a:srgbClr val="6B7280"/>
                </a:solidFill>
                <a:latin typeface="Segoe UI"/>
              </a:rPr>
              <a:t>Transactions/Index · Add · Edit · 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1092708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10424160" cy="3566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Listado paginado con filtros por fecha, categoría, importe y origen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Búsqueda por palabra clave en la descripción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Alta manual de transacciones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Edición de descripción, importe, fecha y categoría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Eliminación individual o masiva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Vista detalle con toda la información de importación (trazabilidad)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97880"/>
            <a:ext cx="108813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1">
                <a:solidFill>
                  <a:srgbClr val="556B2F"/>
                </a:solidFill>
                <a:latin typeface="Segoe UI"/>
              </a:rPr>
              <a:t>CRUD completo sobre el núcleo de datos de la aplicación.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SauronSheet · TFM · Gonzalo Cantarero Galvez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📄  Importación de Extractos Bancarios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640080" cy="384048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3D4D22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200" b="1" i="0">
                <a:solidFill>
                  <a:srgbClr val="556B2F"/>
                </a:solidFill>
                <a:latin typeface="Segoe UI"/>
              </a:rPr>
              <a:t>Pantallas:  </a:t>
            </a:r>
            <a:r>
              <a:rPr sz="1200" b="0" i="1">
                <a:solidFill>
                  <a:srgbClr val="6B7280"/>
                </a:solidFill>
                <a:latin typeface="Segoe UI"/>
              </a:rPr>
              <a:t>Transactions/Upload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1092708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10424160" cy="3566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Subida de ficheros Excel (.xls / .xlsx) con extractos bancarios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Parseo automático de movimientos: fecha, descripción, importe y saldo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Detección de duplicados por saldo y fecha para evitar repeticiones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Resolución automática de categorías basada en la subcategoría del banco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Progreso de la importación en tiempo real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Trazabilidad: origen (banco), fichero, fecha de importación y método de categorización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97880"/>
            <a:ext cx="108813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1">
                <a:solidFill>
                  <a:srgbClr val="556B2F"/>
                </a:solidFill>
                <a:latin typeface="Segoe UI"/>
              </a:rPr>
              <a:t>Funcionalidad estrella: elimina la introducción manual de datos.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SauronSheet · TFM · Gonzalo Cantarero Galvez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🏷️  Categorías y Subcategorías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640080" cy="384048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3D4D22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200" b="1" i="0">
                <a:solidFill>
                  <a:srgbClr val="556B2F"/>
                </a:solidFill>
                <a:latin typeface="Segoe UI"/>
              </a:rPr>
              <a:t>Pantallas:  </a:t>
            </a:r>
            <a:r>
              <a:rPr sz="1200" b="0" i="1">
                <a:solidFill>
                  <a:srgbClr val="6B7280"/>
                </a:solidFill>
                <a:latin typeface="Segoe UI"/>
              </a:rPr>
              <a:t>Categories/Index · Categories/Subcategories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1092708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10424160" cy="3566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Categorías por defecto del sistema (Comida, Transporte, Servicios, Otros)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Categorías personalizadas por usuario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Subcategorías para clasificación detallada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Categorización manual de transacciones no clasificadas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Resolución automática desde la subcategoría del banco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97880"/>
            <a:ext cx="108813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1">
                <a:solidFill>
                  <a:srgbClr val="556B2F"/>
                </a:solidFill>
                <a:latin typeface="Segoe UI"/>
              </a:rPr>
              <a:t>Las categorías del sistema son inmutables (IsSystemDefault) y sembradas por defecto.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SauronSheet · TFM · Gonzalo Cantarero Galvez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💰  Gestión de Presupuestos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640080" cy="384048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3D4D22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200" b="1" i="0">
                <a:solidFill>
                  <a:srgbClr val="556B2F"/>
                </a:solidFill>
                <a:latin typeface="Segoe UI"/>
              </a:rPr>
              <a:t>Pantallas:  </a:t>
            </a:r>
            <a:r>
              <a:rPr sz="1200" b="0" i="1">
                <a:solidFill>
                  <a:srgbClr val="6B7280"/>
                </a:solidFill>
                <a:latin typeface="Segoe UI"/>
              </a:rPr>
              <a:t>Budgets/Index · Create · Edit · Metrics · History · Comparison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1092708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10424160" cy="3566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Creación de presupuestos mensuales por categoría con fecha de inicio/fin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Edición de límite, periodo y fechas de vigencia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Semáforo visual: Verde (≤75%) · Amarillo (75-90%) · Rojo (90-100%) · Sobrecoste (&gt;100%)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Barras de progreso con importe gastado vs límite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Histórico de presupuestos anteriores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Métricas: gastado, límite acumulado, porcentaje usado y restante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97880"/>
            <a:ext cx="108813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1">
                <a:solidFill>
                  <a:srgbClr val="556B2F"/>
                </a:solidFill>
                <a:latin typeface="Segoe UI"/>
              </a:rPr>
              <a:t>El semáforo cambia de color automáticamente según el porcentaje consumido.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SauronSheet · TFM · Gonzalo Cantarero Galvez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📈  Análisis Anual — Secciones 1 a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640080" cy="384048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3D4D22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88136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200" b="1" i="0">
                <a:solidFill>
                  <a:srgbClr val="556B2F"/>
                </a:solidFill>
                <a:latin typeface="Segoe UI"/>
              </a:rPr>
              <a:t>Pantalla:  </a:t>
            </a:r>
            <a:r>
              <a:rPr sz="1200" b="0" i="1">
                <a:solidFill>
                  <a:srgbClr val="6B7280"/>
                </a:solidFill>
                <a:latin typeface="Segoe UI"/>
              </a:rPr>
              <a:t>Analysis/Annual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1092708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164592" cy="932688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737360"/>
            <a:ext cx="10424160" cy="9326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556B2F"/>
                </a:solidFill>
                <a:latin typeface="Segoe UI"/>
              </a:rPr>
              <a:t>1 · Resumen Ejecutivo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D2D2D"/>
                </a:solidFill>
                <a:latin typeface="Segoe UI"/>
              </a:rPr>
              <a:t>Ingresos, gastos, neto, ahorro y tasa de ahorro del año. Variación vs año anterior y ranking.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16352"/>
            <a:ext cx="1092708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2816352"/>
            <a:ext cx="164592" cy="932688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816352"/>
            <a:ext cx="10424160" cy="9326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556B2F"/>
                </a:solidFill>
                <a:latin typeface="Segoe UI"/>
              </a:rPr>
              <a:t>2 · Salud Financiera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D2D2D"/>
                </a:solidFill>
                <a:latin typeface="Segoe UI"/>
              </a:rPr>
              <a:t>Score global 0–100 con anillo visual. Sub-scores: ahorro, estabilidad, dependencia, balance, tendencia.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95344"/>
            <a:ext cx="1092708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" y="3895344"/>
            <a:ext cx="164592" cy="932688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895344"/>
            <a:ext cx="10424160" cy="9326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556B2F"/>
                </a:solidFill>
                <a:latin typeface="Segoe UI"/>
              </a:rPr>
              <a:t>3 · Ratios Financieros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D2D2D"/>
                </a:solidFill>
                <a:latin typeface="Segoe UI"/>
              </a:rPr>
              <a:t>Tasa de ahorro, ingreso/gasto mensual medio, nº transacciones y % de costes fijos.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974336"/>
            <a:ext cx="1092708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" y="4974336"/>
            <a:ext cx="164592" cy="932688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974336"/>
            <a:ext cx="10424160" cy="9326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556B2F"/>
                </a:solidFill>
                <a:latin typeface="Segoe UI"/>
              </a:rPr>
              <a:t>4 · Comparativa Interanual (YoY)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D2D2D"/>
                </a:solidFill>
                <a:latin typeface="Segoe UI"/>
              </a:rPr>
              <a:t>Año actual vs anterior lado a lado: variación absoluta y porcentual de todas las métricas.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SauronSheet · TFM · Gonzalo Cantarero Galvez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📈  Análisis Anual — Secciones 5 a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640080" cy="384048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3D4D22"/>
                </a:solidFill>
                <a:latin typeface="Segoe U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9270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64592" cy="1051560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417320"/>
            <a:ext cx="10424160" cy="10515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556B2F"/>
                </a:solidFill>
                <a:latin typeface="Segoe UI"/>
              </a:rPr>
              <a:t>5 · Tendencia y Distribución Mensual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D2D2D"/>
                </a:solidFill>
                <a:latin typeface="Segoe UI"/>
              </a:rPr>
              <a:t>Gráfico de tendencia mensual (ingresos vs gastos), distribución fijo/variable y mejor 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51760"/>
            <a:ext cx="109270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2651760"/>
            <a:ext cx="164592" cy="1051560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651760"/>
            <a:ext cx="10424160" cy="10515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556B2F"/>
                </a:solidFill>
                <a:latin typeface="Segoe UI"/>
              </a:rPr>
              <a:t>6 · Categorías y Comparativa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D2D2D"/>
                </a:solidFill>
                <a:latin typeface="Segoe UI"/>
              </a:rPr>
              <a:t>Desglose de gastos por categoría con gráfico donut, tabla de tendencias y comparativa YoY.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86200"/>
            <a:ext cx="109270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3886200"/>
            <a:ext cx="164592" cy="1051560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886200"/>
            <a:ext cx="10424160" cy="10515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556B2F"/>
                </a:solidFill>
                <a:latin typeface="Segoe UI"/>
              </a:rPr>
              <a:t>7 · Anomalías y Predicciones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D2D2D"/>
                </a:solidFill>
                <a:latin typeface="Segoe UI"/>
              </a:rPr>
              <a:t>Detección estadística (Z-score &gt; 3) y predicciones deterministas por regresión lineal (R² como confianza).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94960"/>
            <a:ext cx="108813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B7280"/>
                </a:solidFill>
                <a:latin typeface="Segoe UI"/>
              </a:rPr>
              <a:t>7 secciones analíticas que convierten datos crudos en decisiones financieras accionables, con predicciones a futuro.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SauronSheet · TFM · Gonzalo Cantarero Galvez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🌐  Internacionalización y Diseño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640080" cy="384048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3D4D22"/>
                </a:solidFill>
                <a:latin typeface="Segoe U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9616"/>
            <a:ext cx="4992624" cy="42245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56B2F"/>
                </a:solidFill>
                <a:latin typeface="Segoe UI"/>
              </a:rPr>
              <a:t>🌐  Internacionalización (i18n)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Interfaz completa en español (es-ES) e inglés (en-US)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Selector de idioma en el menú de navegación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Persistencia de la elección mediante cookie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Localización de Chart.js, Flatpickr, fechas y moneda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Sistema de recursos .resx con SharedResources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3368" y="1499616"/>
            <a:ext cx="4992624" cy="42245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D4A017"/>
                </a:solidFill>
                <a:latin typeface="Segoe UI"/>
              </a:rPr>
              <a:t>🎨  Diseño Olive + Responsivo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2D2D2D"/>
                </a:solidFill>
                <a:latin typeface="Segoe UI"/>
              </a:rPr>
              <a:t>•  Color primario Olive Green #556B2F (estabilidad y crecimiento)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2D2D2D"/>
                </a:solidFill>
                <a:latin typeface="Segoe UI"/>
              </a:rPr>
              <a:t>•  Canvas #f8f9fa con tarjetas blancas elevadas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2D2D2D"/>
                </a:solidFill>
                <a:latin typeface="Segoe UI"/>
              </a:rPr>
              <a:t>•  Semántica: verde ingresos, rojo gastos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2D2D2D"/>
                </a:solidFill>
                <a:latin typeface="Segoe UI"/>
              </a:rPr>
              <a:t>•  Navegación adaptable: menú colapsable y offcanvas en móvil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2D2D2D"/>
                </a:solidFill>
                <a:latin typeface="Segoe UI"/>
              </a:rPr>
              <a:t>•  Cuadrículas 1 columna (móvil) → 4 columnas (escritorio)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2D2D2D"/>
                </a:solidFill>
                <a:latin typeface="Segoe UI"/>
              </a:rPr>
              <a:t>•  Alpine.js + HTMX + Chart.js para interactividad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SauronSheet · TFM · Gonzalo Cantarero Galvez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22860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0" b="1" i="0">
                <a:solidFill>
                  <a:srgbClr val="7E8F54"/>
                </a:solidFill>
                <a:latin typeface="Segoe UI"/>
              </a:rPr>
              <a:t>05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Metodología de Desarrollo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DD"/>
                </a:solidFill>
                <a:latin typeface="Segoe UI"/>
              </a:rPr>
              <a:t>SDD, TDD y desarrollo asistido por IA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Spec-Driven Development (SDD)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640080" cy="384048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3D4D22"/>
                </a:solidFill>
                <a:latin typeface="Segoe U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1481328" cy="868680"/>
          </a:xfrm>
          <a:prstGeom prst="roundRect">
            <a:avLst>
              <a:gd name="adj" fmla="val 6000"/>
            </a:avLst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554480"/>
            <a:ext cx="182880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D4A017"/>
                </a:solidFill>
                <a:latin typeface="Segoe U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1554480"/>
            <a:ext cx="1481328" cy="868680"/>
          </a:xfrm>
          <a:prstGeom prst="roundRect">
            <a:avLst>
              <a:gd name="adj" fmla="val 6000"/>
            </a:avLst>
          </a:prstGeom>
          <a:solidFill>
            <a:srgbClr val="6B7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Spec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554480"/>
            <a:ext cx="182880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D4A017"/>
                </a:solidFill>
                <a:latin typeface="Segoe U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1554480"/>
            <a:ext cx="1481328" cy="868680"/>
          </a:xfrm>
          <a:prstGeom prst="roundRect">
            <a:avLst>
              <a:gd name="adj" fmla="val 6000"/>
            </a:avLst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554480"/>
            <a:ext cx="182880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D4A017"/>
                </a:solidFill>
                <a:latin typeface="Segoe U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554480"/>
            <a:ext cx="1481328" cy="868680"/>
          </a:xfrm>
          <a:prstGeom prst="roundRect">
            <a:avLst>
              <a:gd name="adj" fmla="val 6000"/>
            </a:avLst>
          </a:prstGeom>
          <a:solidFill>
            <a:srgbClr val="6B7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554480"/>
            <a:ext cx="182880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D4A017"/>
                </a:solidFill>
                <a:latin typeface="Segoe U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1554480"/>
            <a:ext cx="1481328" cy="868680"/>
          </a:xfrm>
          <a:prstGeom prst="roundRect">
            <a:avLst>
              <a:gd name="adj" fmla="val 6000"/>
            </a:avLst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Apply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554480"/>
            <a:ext cx="182880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D4A017"/>
                </a:solidFill>
                <a:latin typeface="Segoe U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1554480"/>
            <a:ext cx="1481328" cy="868680"/>
          </a:xfrm>
          <a:prstGeom prst="roundRect">
            <a:avLst>
              <a:gd name="adj" fmla="val 6000"/>
            </a:avLst>
          </a:prstGeom>
          <a:solidFill>
            <a:srgbClr val="6B7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1554480"/>
            <a:ext cx="182880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D4A017"/>
                </a:solidFill>
                <a:latin typeface="Segoe U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04120" y="1554480"/>
            <a:ext cx="1481328" cy="868680"/>
          </a:xfrm>
          <a:prstGeom prst="roundRect">
            <a:avLst>
              <a:gd name="adj" fmla="val 6000"/>
            </a:avLst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Archive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834640"/>
            <a:ext cx="10881360" cy="2926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D2D2D"/>
                </a:solidFill>
                <a:latin typeface="Segoe UI"/>
              </a:rPr>
              <a:t>•  Exploración — investigación del código y requisitos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D2D2D"/>
                </a:solidFill>
                <a:latin typeface="Segoe UI"/>
              </a:rPr>
              <a:t>•  Propuesta — alcance, enfoque y tradeoffs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D2D2D"/>
                </a:solidFill>
                <a:latin typeface="Segoe UI"/>
              </a:rPr>
              <a:t>•  Especificación — requisitos detallados y escenarios de aceptación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D2D2D"/>
                </a:solidFill>
                <a:latin typeface="Segoe UI"/>
              </a:rPr>
              <a:t>•  Diseño técnico — arquitectura, patrones y decisiones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D2D2D"/>
                </a:solidFill>
                <a:latin typeface="Segoe UI"/>
              </a:rPr>
              <a:t>•  Tareas — desglose en unidades atómicas implementables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D2D2D"/>
                </a:solidFill>
                <a:latin typeface="Segoe UI"/>
              </a:rPr>
              <a:t>•  Implementación — codificación con TDD estricto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D2D2D"/>
                </a:solidFill>
                <a:latin typeface="Segoe UI"/>
              </a:rPr>
              <a:t>•  Verificación — tests, revisión y validación contra la spec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D2D2D"/>
                </a:solidFill>
                <a:latin typeface="Segoe UI"/>
              </a:rPr>
              <a:t>•  Archivo — cierre de fase y registro de decisiones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SauronSheet · TFM · Gonzalo Cantarero Galvez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TDD y Pirámide de Testing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640080" cy="384048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3D4D22"/>
                </a:solidFill>
                <a:latin typeface="Segoe U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9616"/>
            <a:ext cx="4992624" cy="20299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56B2F"/>
                </a:solidFill>
                <a:latin typeface="Segoe UI"/>
              </a:rPr>
              <a:t>🧪  TDD (Test-Driven Development)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Flujo: Test Rojo → Implementación → Test Verde → Refactor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Cobertura mínima: 80% Domain · 70% Application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Los tests preceden a la implementación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2743200" cy="658368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E2E — Playwright (browser automation)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240280"/>
            <a:ext cx="3840480" cy="658368"/>
          </a:xfrm>
          <a:prstGeom prst="roundRect">
            <a:avLst>
              <a:gd name="adj" fmla="val 6000"/>
            </a:avLst>
          </a:prstGeom>
          <a:solidFill>
            <a:srgbClr val="6B7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Integration — xUnit + Moq + in-memory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3017520"/>
            <a:ext cx="4937760" cy="658368"/>
          </a:xfrm>
          <a:prstGeom prst="roundRect">
            <a:avLst>
              <a:gd name="adj" fmla="val 6000"/>
            </a:avLst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Unit (Domain) — xUnit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539496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3968496"/>
            <a:ext cx="4992624" cy="1801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D4A017"/>
                </a:solidFill>
                <a:latin typeface="Segoe UI"/>
              </a:rPr>
              <a:t>✅  Resultados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910 tests (unidad, integración, frontend, infraestructura)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10 specs E2E con Playwright (~60 escenarios)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Ejecución en CI antes de cada deploy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023360"/>
            <a:ext cx="4754880" cy="1828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556B2F"/>
                </a:solidFill>
                <a:latin typeface="Segoe UI"/>
              </a:rPr>
              <a:t>910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280"/>
                </a:solidFill>
                <a:latin typeface="Segoe UI"/>
              </a:rPr>
              <a:t>tests automatizados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SauronSheet · TFM · Gonzalo Cantarero Galvez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Desarrollo Asistido por IA — Gentle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640080" cy="384048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3D4D22"/>
                </a:solidFill>
                <a:latin typeface="Segoe U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8813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Todo el desarrollo se ha realizado con Gentle AI sobre opencode, orquestando el flujo SDD con un ecosistema de herramientas de optimización de tokens y memoria persistente.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53949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4937760" cy="12710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556B2F"/>
                </a:solidFill>
                <a:latin typeface="Segoe UI"/>
              </a:rPr>
              <a:t>Headroom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</a:rPr>
              <a:t>Compresión de contexto en ventana — hasta 90% menos tokens en respuestas largas y logs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286000"/>
            <a:ext cx="53949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450592"/>
            <a:ext cx="4937760" cy="12710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556B2F"/>
                </a:solidFill>
                <a:latin typeface="Segoe UI"/>
              </a:rPr>
              <a:t>Serena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</a:rPr>
              <a:t>Análisis semántico con LSP — navegación precisa de símbolos sin depender de grep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69080"/>
            <a:ext cx="53949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233672"/>
            <a:ext cx="4937760" cy="12710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556B2F"/>
                </a:solidFill>
                <a:latin typeface="Segoe UI"/>
              </a:rPr>
              <a:t>RTK (Rust Token Killer)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</a:rPr>
              <a:t>Compresión de comandos de terminal — 60–99% menos tokens en git, dotnet, grep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069080"/>
            <a:ext cx="53949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4233672"/>
            <a:ext cx="4937760" cy="12710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556B2F"/>
                </a:solidFill>
                <a:latin typeface="Segoe UI"/>
              </a:rPr>
              <a:t>Engram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</a:rPr>
              <a:t>Memoria persistente entre sesiones — decisiones, bugs y configuraciones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SauronSheet · TFM · Gonzalo Cantarero Galvez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22860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0" b="1" i="0">
                <a:solidFill>
                  <a:srgbClr val="7E8F54"/>
                </a:solidFill>
                <a:latin typeface="Segoe UI"/>
              </a:rPr>
              <a:t>06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Testing y CI/CD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DD"/>
                </a:solidFill>
                <a:latin typeface="Segoe UI"/>
              </a:rPr>
              <a:t>Playwright E2E y pipeline de despliegue continuo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Tests E2E con Playwright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640080" cy="384048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3D4D22"/>
                </a:solidFill>
                <a:latin typeface="Segoe U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9616"/>
            <a:ext cx="4992624" cy="42245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56B2F"/>
                </a:solidFill>
                <a:latin typeface="Segoe UI"/>
              </a:rPr>
              <a:t>🎭  ¿Por qué Playwright?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Multi-navegador: Chromium, Firefox, WebKit con una API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Auto-wait inteligente — sin sleep() arbitrarios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Selectores data-testid — inmunes al cambio de idioma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Trace viewer, screenshots y vídeo en fallo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Integración nativa con GitHub 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3368" y="1499616"/>
            <a:ext cx="4992624" cy="42245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D4A017"/>
                </a:solidFill>
                <a:latin typeface="Segoe UI"/>
              </a:rPr>
              <a:t>📋  Flujos cubiertos (9 specs, ~60 tests)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2D2D2D"/>
                </a:solidFill>
                <a:latin typeface="Segoe UI"/>
              </a:rPr>
              <a:t>•  Cambio de idioma ES↔EN y persistencia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2D2D2D"/>
                </a:solidFill>
                <a:latin typeface="Segoe UI"/>
              </a:rPr>
              <a:t>•  Login válido/inválido, registro, logout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2D2D2D"/>
                </a:solidFill>
                <a:latin typeface="Segoe UI"/>
              </a:rPr>
              <a:t>•  Importación de extracto ING con duplicados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2D2D2D"/>
                </a:solidFill>
                <a:latin typeface="Segoe UI"/>
              </a:rPr>
              <a:t>•  CRUD de presupuestos y semáforo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2D2D2D"/>
                </a:solidFill>
                <a:latin typeface="Segoe UI"/>
              </a:rPr>
              <a:t>•  Edición de transacciones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2D2D2D"/>
                </a:solidFill>
                <a:latin typeface="Segoe UI"/>
              </a:rPr>
              <a:t>•  Ciclo de vida de categorías y subcategorías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2D2D2D"/>
                </a:solidFill>
                <a:latin typeface="Segoe UI"/>
              </a:rPr>
              <a:t>•  Navegación del análisis anual (7 secciones)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SauronSheet · TFM · Gonzalo Cantarero Galvez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Pipeline CI/CD con GitHub 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640080" cy="384048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3D4D22"/>
                </a:solidFill>
                <a:latin typeface="Segoe U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417320"/>
            <a:ext cx="101041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91640" y="1417320"/>
            <a:ext cx="969264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400" b="1" i="0">
                <a:solidFill>
                  <a:srgbClr val="556B2F"/>
                </a:solidFill>
                <a:latin typeface="Segoe UI"/>
              </a:rPr>
              <a:t>Build &amp; Test — </a:t>
            </a:r>
            <a:r>
              <a:rPr sz="1300" b="0" i="0">
                <a:solidFill>
                  <a:srgbClr val="2D2D2D"/>
                </a:solidFill>
                <a:latin typeface="Segoe UI"/>
              </a:rPr>
              <a:t>dotnet restore → build → test (910 tests)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58568"/>
            <a:ext cx="640080" cy="640080"/>
          </a:xfrm>
          <a:prstGeom prst="roundRect">
            <a:avLst>
              <a:gd name="adj" fmla="val 6000"/>
            </a:avLst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2258568"/>
            <a:ext cx="101041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91640" y="2258568"/>
            <a:ext cx="969264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400" b="1" i="0">
                <a:solidFill>
                  <a:srgbClr val="556B2F"/>
                </a:solidFill>
                <a:latin typeface="Segoe UI"/>
              </a:rPr>
              <a:t>E2E Tests — </a:t>
            </a:r>
            <a:r>
              <a:rPr sz="1300" b="0" i="0">
                <a:solidFill>
                  <a:srgbClr val="2D2D2D"/>
                </a:solidFill>
                <a:latin typeface="Segoe UI"/>
              </a:rPr>
              <a:t>Playwright Chromium — 9 specs con credenciales de 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99816"/>
            <a:ext cx="640080" cy="640080"/>
          </a:xfrm>
          <a:prstGeom prst="roundRect">
            <a:avLst>
              <a:gd name="adj" fmla="val 6000"/>
            </a:avLst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3099816"/>
            <a:ext cx="101041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91640" y="3099816"/>
            <a:ext cx="969264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400" b="1" i="0">
                <a:solidFill>
                  <a:srgbClr val="556B2F"/>
                </a:solidFill>
                <a:latin typeface="Segoe UI"/>
              </a:rPr>
              <a:t>Migraciones — </a:t>
            </a:r>
            <a:r>
              <a:rPr sz="1300" b="0" i="0">
                <a:solidFill>
                  <a:srgbClr val="2D2D2D"/>
                </a:solidFill>
                <a:latin typeface="Segoe UI"/>
              </a:rPr>
              <a:t>supabase link → db push (antes del deploy)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41064"/>
            <a:ext cx="640080" cy="640080"/>
          </a:xfrm>
          <a:prstGeom prst="roundRect">
            <a:avLst>
              <a:gd name="adj" fmla="val 6000"/>
            </a:avLst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3941064"/>
            <a:ext cx="101041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91640" y="3941064"/>
            <a:ext cx="969264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400" b="1" i="0">
                <a:solidFill>
                  <a:srgbClr val="556B2F"/>
                </a:solidFill>
                <a:latin typeface="Segoe UI"/>
              </a:rPr>
              <a:t>Publish — </a:t>
            </a:r>
            <a:r>
              <a:rPr sz="1300" b="0" i="0">
                <a:solidFill>
                  <a:srgbClr val="2D2D2D"/>
                </a:solidFill>
                <a:latin typeface="Segoe UI"/>
              </a:rPr>
              <a:t>dotnet publish con limpieza de .map y .pdb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82312"/>
            <a:ext cx="640080" cy="640080"/>
          </a:xfrm>
          <a:prstGeom prst="roundRect">
            <a:avLst>
              <a:gd name="adj" fmla="val 6000"/>
            </a:avLst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63040" y="4782312"/>
            <a:ext cx="101041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91640" y="4782312"/>
            <a:ext cx="969264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400" b="1" i="0">
                <a:solidFill>
                  <a:srgbClr val="556B2F"/>
                </a:solidFill>
                <a:latin typeface="Segoe UI"/>
              </a:rPr>
              <a:t>Deploy a Azure — </a:t>
            </a:r>
            <a:r>
              <a:rPr sz="1300" b="0" i="0">
                <a:solidFill>
                  <a:srgbClr val="2D2D2D"/>
                </a:solidFill>
                <a:latin typeface="Segoe UI"/>
              </a:rPr>
              <a:t>Login OIDC → azure/webapps-deploy a App 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69280"/>
            <a:ext cx="108813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B7280"/>
                </a:solidFill>
                <a:latin typeface="Segoe UI"/>
              </a:rPr>
              <a:t>Trigger: push a ramas RELEASE/Sauron.Sheet/*.  Rollback: revertir el commit y pushear → redeploy automático de la versión anterior.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SauronSheet · TFM · Gonzalo Cantarero Galvez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22860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0" b="1" i="0" dirty="0">
                <a:solidFill>
                  <a:srgbClr val="7E8F54"/>
                </a:solidFill>
                <a:latin typeface="Segoe UI"/>
              </a:rPr>
              <a:t>07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 i="0" dirty="0">
                <a:solidFill>
                  <a:srgbClr val="FFFFFF"/>
                </a:solidFill>
                <a:latin typeface="Segoe UI"/>
              </a:rPr>
              <a:t>Demo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E8E8DD"/>
                </a:solidFill>
                <a:latin typeface="Segoe UI"/>
              </a:rPr>
              <a:t>La </a:t>
            </a:r>
            <a:r>
              <a:rPr sz="1600" b="0" i="0" dirty="0" err="1">
                <a:solidFill>
                  <a:srgbClr val="E8E8DD"/>
                </a:solidFill>
                <a:latin typeface="Segoe UI"/>
              </a:rPr>
              <a:t>aplicación</a:t>
            </a:r>
            <a:r>
              <a:rPr sz="1600" b="0" i="0" dirty="0">
                <a:solidFill>
                  <a:srgbClr val="E8E8DD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E8E8DD"/>
                </a:solidFill>
                <a:latin typeface="Segoe UI"/>
              </a:rPr>
              <a:t>en</a:t>
            </a:r>
            <a:r>
              <a:rPr sz="1600" b="0" i="0" dirty="0">
                <a:solidFill>
                  <a:srgbClr val="E8E8DD"/>
                </a:solidFill>
                <a:latin typeface="Segoe UI"/>
              </a:rPr>
              <a:t> vivo con </a:t>
            </a:r>
            <a:r>
              <a:rPr sz="1600" b="0" i="0" dirty="0" err="1">
                <a:solidFill>
                  <a:srgbClr val="E8E8DD"/>
                </a:solidFill>
                <a:latin typeface="Segoe UI"/>
              </a:rPr>
              <a:t>usuario</a:t>
            </a:r>
            <a:r>
              <a:rPr sz="1600" b="0" i="0" dirty="0">
                <a:solidFill>
                  <a:srgbClr val="E8E8DD"/>
                </a:solidFill>
                <a:latin typeface="Segoe UI"/>
              </a:rPr>
              <a:t> de </a:t>
            </a:r>
            <a:r>
              <a:rPr sz="1600" b="0" i="0" dirty="0" err="1">
                <a:solidFill>
                  <a:srgbClr val="E8E8DD"/>
                </a:solidFill>
                <a:latin typeface="Segoe UI"/>
              </a:rPr>
              <a:t>prueba</a:t>
            </a:r>
            <a:endParaRPr sz="1600" b="0" i="0" dirty="0">
              <a:solidFill>
                <a:srgbClr val="E8E8DD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966"/>
            <a:ext cx="10515600" cy="437043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s-ES" sz="2600" b="1" i="0" dirty="0">
                <a:solidFill>
                  <a:srgbClr val="FFFFFF"/>
                </a:solidFill>
                <a:latin typeface="Segoe UI"/>
              </a:rPr>
              <a:t>Datos del usuario de la demo</a:t>
            </a:r>
            <a:endParaRPr sz="26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640080" cy="384048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3D4D22"/>
                </a:solidFill>
                <a:latin typeface="Segoe U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1554480"/>
            <a:ext cx="850392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94560" y="1828800"/>
            <a:ext cx="7772400" cy="3108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556B2F"/>
                </a:solidFill>
                <a:latin typeface="Segoe UI"/>
              </a:rPr>
              <a:t>🌐  Aplicación desplegada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300" b="0" i="0">
                <a:solidFill>
                  <a:srgbClr val="2D2D2D"/>
                </a:solidFill>
                <a:latin typeface="Segoe UI"/>
              </a:rPr>
              <a:t>sauronsheet-akd4gkewdpbtbgea.spaincentral-01.azurewebsites.net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556B2F"/>
                </a:solidFill>
                <a:latin typeface="Segoe UI"/>
              </a:rPr>
              <a:t>👤  Usuario de prueba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Email:  demo@sauronsheet.app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Contraseña:  Demo1234!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B7280"/>
                </a:solidFill>
                <a:latin typeface="Segoe UI"/>
              </a:rPr>
              <a:t>El usuario demo incluye datos de ejemplo: transacciones importadas, presupuestos activos y análisis anual con datos históricos (2024–2026).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SauronSheet · TFM · Gonzalo Cantarero Galvez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22860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0" b="1" i="0">
                <a:solidFill>
                  <a:srgbClr val="7E8F54"/>
                </a:solidFill>
                <a:latin typeface="Segoe UI"/>
              </a:rPr>
              <a:t>08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Conclusiones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DD"/>
                </a:solidFill>
                <a:latin typeface="Segoe UI"/>
              </a:rPr>
              <a:t>Logros, métricas y trabajo futuro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Logros y Métricas del Proyecto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640080" cy="384048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3D4D22"/>
                </a:solidFill>
                <a:latin typeface="Segoe U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2651760" cy="11887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910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CEFE2"/>
                </a:solidFill>
                <a:latin typeface="Segoe UI"/>
              </a:rPr>
              <a:t>tests automatizados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7160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6B7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29000" y="1481328"/>
            <a:ext cx="2651760" cy="11887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10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CEFE2"/>
                </a:solidFill>
                <a:latin typeface="Segoe UI"/>
              </a:rPr>
              <a:t>specs E2E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481328"/>
            <a:ext cx="2651760" cy="11887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7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CEFE2"/>
                </a:solidFill>
                <a:latin typeface="Segoe UI"/>
              </a:rPr>
              <a:t>secciones de análisis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37160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6B7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06840" y="1481328"/>
            <a:ext cx="2651760" cy="11887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CEFE2"/>
                </a:solidFill>
                <a:latin typeface="Segoe UI"/>
              </a:rPr>
              <a:t>idiomas ES / 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08960"/>
            <a:ext cx="10881360" cy="2926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Aplicación web completa y desplegada en producción (Azure)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Clean Architecture + CQRS + DDD aplicados correctamente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TDD estricto en dominio con cobertura &gt;80%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Importación real de extractos bancarios con resolución de categorías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Análisis anual avanzado con anomalías y predicciones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D2D2D"/>
                </a:solidFill>
                <a:latin typeface="Segoe UI"/>
              </a:rPr>
              <a:t>•  Multi-idioma, multi-tenant y CI/CD completo con rollback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SauronSheet · TFM · Gonzalo Cantarero Galvez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Trabajo Futuro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292608"/>
            <a:ext cx="640080" cy="384048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3D4D22"/>
                </a:solidFill>
                <a:latin typeface="Segoe U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9270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868680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600" b="0" i="0">
                <a:solidFill>
                  <a:srgbClr val="556B2F"/>
                </a:solidFill>
                <a:latin typeface="Segoe UI"/>
              </a:rPr>
              <a:t>📄   </a:t>
            </a:r>
            <a:r>
              <a:rPr sz="1400" b="1" i="0">
                <a:solidFill>
                  <a:srgbClr val="2D2D2D"/>
                </a:solidFill>
                <a:latin typeface="Segoe UI"/>
              </a:rPr>
              <a:t>Exportación a PDF / CSV de informes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563624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Media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94560"/>
            <a:ext cx="109270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868680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600" b="0" i="0">
                <a:solidFill>
                  <a:srgbClr val="556B2F"/>
                </a:solidFill>
                <a:latin typeface="Segoe UI"/>
              </a:rPr>
              <a:t>🔔   </a:t>
            </a:r>
            <a:r>
              <a:rPr sz="1400" b="1" i="0">
                <a:solidFill>
                  <a:srgbClr val="2D2D2D"/>
                </a:solidFill>
                <a:latin typeface="Segoe UI"/>
              </a:rPr>
              <a:t>Alertas push de presupuestos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2340864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Media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71800"/>
            <a:ext cx="109270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971800"/>
            <a:ext cx="868680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600" b="0" i="0">
                <a:solidFill>
                  <a:srgbClr val="556B2F"/>
                </a:solidFill>
                <a:latin typeface="Segoe UI"/>
              </a:rPr>
              <a:t>🏦   </a:t>
            </a:r>
            <a:r>
              <a:rPr sz="1400" b="1" i="0">
                <a:solidFill>
                  <a:srgbClr val="2D2D2D"/>
                </a:solidFill>
                <a:latin typeface="Segoe UI"/>
              </a:rPr>
              <a:t>Importación multi-banco (CaixaBank, Santander, BBVA)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0" y="3118104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Media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40"/>
            <a:ext cx="109270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749040"/>
            <a:ext cx="868680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600" b="0" i="0">
                <a:solidFill>
                  <a:srgbClr val="556B2F"/>
                </a:solidFill>
                <a:latin typeface="Segoe UI"/>
              </a:rPr>
              <a:t>🌙   </a:t>
            </a:r>
            <a:r>
              <a:rPr sz="1400" b="1" i="0">
                <a:solidFill>
                  <a:srgbClr val="2D2D2D"/>
                </a:solidFill>
                <a:latin typeface="Segoe UI"/>
              </a:rPr>
              <a:t>Modo oscuro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3895344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Baja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526280"/>
            <a:ext cx="109270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868680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600" b="0" i="0">
                <a:solidFill>
                  <a:srgbClr val="556B2F"/>
                </a:solidFill>
                <a:latin typeface="Segoe UI"/>
              </a:rPr>
              <a:t>🤖   </a:t>
            </a:r>
            <a:r>
              <a:rPr sz="1400" b="1" i="0">
                <a:solidFill>
                  <a:srgbClr val="2D2D2D"/>
                </a:solidFill>
                <a:latin typeface="Segoe UI"/>
              </a:rPr>
              <a:t>Categorización automática con ML (basada en histórico)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0" y="4672584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Baja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303520"/>
            <a:ext cx="109270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303520"/>
            <a:ext cx="868680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600" b="0" i="0">
                <a:solidFill>
                  <a:srgbClr val="556B2F"/>
                </a:solidFill>
                <a:latin typeface="Segoe UI"/>
              </a:rPr>
              <a:t>👥   </a:t>
            </a:r>
            <a:r>
              <a:rPr sz="1400" b="1" i="0">
                <a:solidFill>
                  <a:srgbClr val="2D2D2D"/>
                </a:solidFill>
                <a:latin typeface="Segoe UI"/>
              </a:rPr>
              <a:t>Presupuestos compartidos (grupo / pareja)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5449824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Baja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SauronSheet · TFM · Gonzalo Cantarero Galvez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4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399" y="2743200"/>
            <a:ext cx="10360152" cy="12801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Segoe UI"/>
              </a:rPr>
              <a:t>¡Gracias!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D4A017"/>
                </a:solidFill>
                <a:latin typeface="Segoe UI"/>
              </a:rPr>
              <a:t>Un ojo que todo lo ve sobre tus finanzas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114800"/>
            <a:ext cx="7616952" cy="119879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0" i="0" dirty="0">
                <a:solidFill>
                  <a:srgbClr val="E8E8DD"/>
                </a:solidFill>
                <a:latin typeface="Segoe UI"/>
              </a:rPr>
              <a:t>Demo:  sauronsheet-akd4gkewdpbtbgea.spaincentral-01.azurewebsites.net</a:t>
            </a:r>
          </a:p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1300" b="0" i="0" dirty="0" err="1">
                <a:solidFill>
                  <a:srgbClr val="E8E8DD"/>
                </a:solidFill>
                <a:latin typeface="Segoe UI"/>
              </a:rPr>
              <a:t>Usuario</a:t>
            </a:r>
            <a:r>
              <a:rPr sz="1300" b="0" i="0" dirty="0">
                <a:solidFill>
                  <a:srgbClr val="E8E8DD"/>
                </a:solidFill>
                <a:latin typeface="Segoe UI"/>
              </a:rPr>
              <a:t>:  </a:t>
            </a:r>
            <a:r>
              <a:rPr sz="1300" b="0" i="0" dirty="0" err="1">
                <a:solidFill>
                  <a:srgbClr val="E8E8DD"/>
                </a:solidFill>
                <a:latin typeface="Segoe UI"/>
              </a:rPr>
              <a:t>demo@sauronsheet.app</a:t>
            </a:r>
            <a:r>
              <a:rPr sz="1300" b="0" i="0" dirty="0">
                <a:solidFill>
                  <a:srgbClr val="E8E8DD"/>
                </a:solidFill>
                <a:latin typeface="Segoe UI"/>
              </a:rPr>
              <a:t>  /  Demo1234!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 dirty="0">
                <a:solidFill>
                  <a:srgbClr val="D4A017"/>
                </a:solidFill>
                <a:latin typeface="Segoe UI"/>
              </a:rPr>
              <a:t>Gonzalo Cantarero Galvez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 dirty="0" err="1">
                <a:solidFill>
                  <a:srgbClr val="CFD6BE"/>
                </a:solidFill>
                <a:latin typeface="Segoe UI"/>
              </a:rPr>
              <a:t>Trabajo</a:t>
            </a:r>
            <a:r>
              <a:rPr sz="1200" b="0" i="0" dirty="0">
                <a:solidFill>
                  <a:srgbClr val="CFD6BE"/>
                </a:solidFill>
                <a:latin typeface="Segoe UI"/>
              </a:rPr>
              <a:t> de Fin de </a:t>
            </a:r>
            <a:r>
              <a:rPr sz="1200" b="0" i="0" dirty="0" err="1">
                <a:solidFill>
                  <a:srgbClr val="CFD6BE"/>
                </a:solidFill>
                <a:latin typeface="Segoe UI"/>
              </a:rPr>
              <a:t>Máster</a:t>
            </a:r>
            <a:r>
              <a:rPr sz="1200" b="0" i="0" dirty="0">
                <a:solidFill>
                  <a:srgbClr val="CFD6BE"/>
                </a:solidFill>
                <a:latin typeface="Segoe UI"/>
              </a:rPr>
              <a:t> — </a:t>
            </a:r>
            <a:r>
              <a:rPr sz="1200" b="0" i="0" dirty="0" err="1">
                <a:solidFill>
                  <a:srgbClr val="CFD6BE"/>
                </a:solidFill>
                <a:latin typeface="Segoe UI"/>
              </a:rPr>
              <a:t>Máster</a:t>
            </a:r>
            <a:r>
              <a:rPr sz="1200" b="0" i="0" dirty="0">
                <a:solidFill>
                  <a:srgbClr val="CFD6BE"/>
                </a:solidFill>
                <a:latin typeface="Segoe UI"/>
              </a:rPr>
              <a:t> de </a:t>
            </a:r>
            <a:r>
              <a:rPr lang="es-ES" sz="1200" b="0" i="0" dirty="0">
                <a:solidFill>
                  <a:srgbClr val="CFD6BE"/>
                </a:solidFill>
                <a:latin typeface="Segoe UI"/>
              </a:rPr>
              <a:t>Desarrollo con IA</a:t>
            </a:r>
            <a:endParaRPr sz="1200" b="0" i="0" dirty="0">
              <a:solidFill>
                <a:srgbClr val="CFD6BE"/>
              </a:solidFill>
              <a:latin typeface="Segoe UI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EE56CE1-2766-A457-048E-D0B564B608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74636" y="914400"/>
            <a:ext cx="2039679" cy="20396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3060</Words>
  <Application>Microsoft Office PowerPoint</Application>
  <PresentationFormat>Widescreen</PresentationFormat>
  <Paragraphs>513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Gonzalo Cantarero Gálvez</cp:lastModifiedBy>
  <cp:revision>3</cp:revision>
  <dcterms:created xsi:type="dcterms:W3CDTF">2013-01-27T09:14:16Z</dcterms:created>
  <dcterms:modified xsi:type="dcterms:W3CDTF">2026-07-04T21:28:20Z</dcterms:modified>
  <cp:category/>
</cp:coreProperties>
</file>